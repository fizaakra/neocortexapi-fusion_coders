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69" r:id="rId2"/>
    <p:sldId id="258" r:id="rId3"/>
    <p:sldId id="259" r:id="rId4"/>
    <p:sldId id="261" r:id="rId5"/>
    <p:sldId id="262" r:id="rId6"/>
    <p:sldId id="271" r:id="rId7"/>
    <p:sldId id="263" r:id="rId8"/>
    <p:sldId id="264" r:id="rId9"/>
    <p:sldId id="265" r:id="rId10"/>
    <p:sldId id="266" r:id="rId11"/>
    <p:sldId id="268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8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8375" autoAdjust="0"/>
  </p:normalViewPr>
  <p:slideViewPr>
    <p:cSldViewPr snapToGrid="0">
      <p:cViewPr varScale="1">
        <p:scale>
          <a:sx n="57" d="100"/>
          <a:sy n="57" d="100"/>
        </p:scale>
        <p:origin x="10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4A420-F50C-4C2C-B88E-E6F4EF504B6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3A6D2E-5228-4998-9E24-EFCCA024675E}"/>
              </a:ext>
            </a:extLst>
          </p:cNvPr>
          <p:cNvSpPr/>
          <p:nvPr/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D878C-9930-44AF-AE18-FCA0DAE10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2" y="852055"/>
            <a:ext cx="10380572" cy="2581463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D608-1F8D-47BB-B595-43B7BEAC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3754582"/>
            <a:ext cx="10380572" cy="224443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3C1DA-DAC9-422B-9450-54A7E03B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EE12-F28E-4B03-A404-A8FCAE0F6316}" type="datetime1">
              <a:rPr lang="en-US" smtClean="0"/>
              <a:t>3/23/2025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A2B9-3E23-4C08-A5CE-69886121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2E61E-26F7-4369-8F2F-6D3CDF64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DB48DB-8E25-4F2F-8C02-5B793937255F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BA7E3-7313-49C8-A245-A85BDEB13EB3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441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2CCA-8D32-44C3-809A-54D0245B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9041-349C-49F8-B155-6F586287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261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E088-72B1-425B-B53B-81B13482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0451-8BF9-48B2-8E6A-9E15C833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196E-3A76-4417-BFD8-4400D16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63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FB183B-99B9-4420-AB2D-070568510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6DF62B9-1876-4EEB-929D-B46F98265E34}"/>
              </a:ext>
            </a:extLst>
          </p:cNvPr>
          <p:cNvSpPr/>
          <p:nvPr/>
        </p:nvSpPr>
        <p:spPr>
          <a:xfrm>
            <a:off x="0" y="-2"/>
            <a:ext cx="12192000" cy="3862064"/>
          </a:xfrm>
          <a:prstGeom prst="rect">
            <a:avLst/>
          </a:prstGeom>
          <a:ln>
            <a:noFill/>
          </a:ln>
          <a:effectLst>
            <a:outerShdw blurRad="203200" dist="127000" dir="5460000" sx="96000" sy="96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F0E4DD-839A-4BD2-B5FA-FF319E87D037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92C2FB-E558-4132-AAF5-EFCED014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2056"/>
            <a:ext cx="10380572" cy="257694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20424-DA4E-467F-AC0A-D44192A5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7" y="4202832"/>
            <a:ext cx="10395116" cy="178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9F9C-ADA9-4225-9D74-193A8894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217A73C3-B243-44D3-809D-EF8FDFBD85D4}" type="datetime1">
              <a:rPr lang="en-US" smtClean="0"/>
              <a:t>3/23/2025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7DEC-B96B-4D69-8B62-5156FDA6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4AC1-9934-43DC-B9AC-322612A7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DA60A-39CD-41D4-8AE5-0FB7FD78559C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583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AF84-4A19-4D9A-9B82-46BCBED4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73DD-26AC-4E69-A17C-538D9C7C6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30C23-A75F-45DF-BCCF-760C533AC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092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C3974-73EC-4F1B-9E92-0E279ABE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C9B6D3E3-28E2-4380-A113-67698215C5F8}" type="datetime1">
              <a:rPr lang="en-US" smtClean="0"/>
              <a:t>3/23/2025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0B3F2-3F28-42A3-9701-A6F01F1B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A2FC-50E7-4972-9F28-E3AC4EF9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26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5F85-77E6-4F6D-9FFA-5D76201B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872836"/>
            <a:ext cx="10380572" cy="14270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C0DAE-58D1-45D9-9FC4-B0864E33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1" y="2713326"/>
            <a:ext cx="5023424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E63D7-9812-4EA1-A0A2-14D974311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801" y="3706091"/>
            <a:ext cx="5023424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055B-04A0-47D3-90ED-135025F85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211" y="2713326"/>
            <a:ext cx="5048163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36E6E-8F64-49E6-B57C-86CF92D16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211" y="3706091"/>
            <a:ext cx="5048163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FBEAD-2827-40DA-8338-2D691325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A9EFCB61-04AD-47C9-BF79-2BD8B9CEC07A}" type="datetime1">
              <a:rPr lang="en-US" smtClean="0"/>
              <a:t>3/23/2025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4B88D-9C6E-4A88-985C-3ED5057A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B6A32-2D15-425F-B6A9-146AFB5C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5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1B7C-9BD5-4CF8-BAEB-A6CB78D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5F1D3-3353-4FC6-8854-51B0BFFD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5E0C-D585-492F-8146-7493F4086301}" type="datetime1">
              <a:rPr lang="en-US" smtClean="0"/>
              <a:t>3/23/2025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26CE6-6BEB-46DB-BD4B-9B8AE89A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1BCCC-8B3F-40B3-91D5-52E53B2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5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0FBB6-4CCA-4358-9DD5-CDF2173E63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2559A-671A-4FDE-82C3-1CF8CFCF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8390-48B5-49AB-B019-A7C8FB8C31F6}" type="datetime1">
              <a:rPr lang="en-US" smtClean="0"/>
              <a:t>3/23/2025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14275-250D-437E-BAF1-5BB3CDE6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3BDE-2A52-4AA7-B222-0F25570E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6B771E-DDF7-430C-9462-BA1D3742C84E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71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F9A0B00-F6ED-4C3A-97DC-C2AF9D62EE8B}"/>
              </a:ext>
            </a:extLst>
          </p:cNvPr>
          <p:cNvSpPr/>
          <p:nvPr/>
        </p:nvSpPr>
        <p:spPr>
          <a:xfrm>
            <a:off x="79067" y="0"/>
            <a:ext cx="4998624" cy="6858000"/>
          </a:xfrm>
          <a:prstGeom prst="rect">
            <a:avLst/>
          </a:prstGeom>
          <a:ln>
            <a:noFill/>
          </a:ln>
          <a:effectLst>
            <a:outerShdw blurRad="228600" dist="1143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3B025FD9-B9EF-4F5C-B67D-3485253B7A6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545CD-A200-4C66-BF9A-9B839D0CE64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10916-EEE9-418C-B24A-EC09A6D2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537" y="872836"/>
            <a:ext cx="4560525" cy="228105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0F4-FD98-409E-B41A-5F4352C6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781" y="872837"/>
            <a:ext cx="4520593" cy="5140036"/>
          </a:xfrm>
        </p:spPr>
        <p:txBody>
          <a:bodyPr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BF6F-6E7C-4B3F-B205-09361DA58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537" y="3442854"/>
            <a:ext cx="4560525" cy="257694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198D-8500-4277-AA5D-3C3D8FDD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962E767E-8A14-4E70-91B9-2101CBC4D7BD}" type="datetime1">
              <a:rPr lang="en-US" smtClean="0"/>
              <a:t>3/23/2025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D219F-027A-4632-9FB0-BD098D56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79253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C82B-C7DC-434D-8768-DE9D117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8CCC603-9605-46C8-9034-8DAE6AC40DD9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BF1D9-8F8F-45A3-BDB4-952D0FB20A4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317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BEB8797-B080-41A6-B14E-8DC7F0F27E4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C6C7272-A552-46B3-992F-F5ADD5AA2443}"/>
              </a:ext>
            </a:extLst>
          </p:cNvPr>
          <p:cNvSpPr/>
          <p:nvPr/>
        </p:nvSpPr>
        <p:spPr>
          <a:xfrm>
            <a:off x="-1" y="0"/>
            <a:ext cx="608767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F6AD1-1E6C-46AF-8431-6627180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33" y="858981"/>
            <a:ext cx="4556749" cy="2281052"/>
          </a:xfrm>
        </p:spPr>
        <p:txBody>
          <a:bodyPr anchor="b"/>
          <a:lstStyle>
            <a:lvl1pPr>
              <a:def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A91F9-760E-4CF4-8A03-FA1482C3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59826" y="865909"/>
            <a:ext cx="4582548" cy="512618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9A9D5-BA6E-4C4A-88A0-5BB86958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733" y="3429000"/>
            <a:ext cx="4556749" cy="2590800"/>
          </a:xfrm>
        </p:spPr>
        <p:txBody>
          <a:bodyPr/>
          <a:lstStyle>
            <a:lvl1pPr marL="0" indent="0"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6899E-70A1-4EFB-87EC-6C4F3BC0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01AF0C4B-5A4A-45CA-ABEC-10F107160D33}" type="datetime1">
              <a:rPr lang="en-US" smtClean="0"/>
              <a:t>3/23/2025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4B05-4931-4BC8-BD43-9E6B944B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BE5D-7EA4-4D33-B23E-52E640CB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F0DB5EA-94EC-4DB5-B8E5-B454005C1552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99FF82-B951-46E6-AEA7-0993C867FB6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044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69F7-12D5-40F0-88F0-33D60AEB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B511-E79D-41D8-AF91-14A5C803F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5DFA-4DAF-4B30-8032-503081AE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8189-0D9C-48A6-9FA3-862227B094CE}" type="datetime1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FBF5-16C0-46A0-916A-4910C1B6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EA6-7E48-454C-887A-0EF3356F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88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312BAB-A07B-4FEA-8EB5-A7BD8B24C6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45A432-7E52-48B5-A8BB-13EED592E35A}"/>
              </a:ext>
            </a:extLst>
          </p:cNvPr>
          <p:cNvSpPr/>
          <p:nvPr/>
        </p:nvSpPr>
        <p:spPr>
          <a:xfrm>
            <a:off x="7813964" y="0"/>
            <a:ext cx="4378036" cy="6858000"/>
          </a:xfrm>
          <a:prstGeom prst="rect">
            <a:avLst/>
          </a:prstGeom>
          <a:ln>
            <a:noFill/>
          </a:ln>
          <a:effectLst>
            <a:outerShdw blurRad="254000" dist="152400" dir="1068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288B6-16BD-4DEE-9187-C78963ED1D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59F7B-ED77-4251-A424-93712C6F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39544" y="872836"/>
            <a:ext cx="2521527" cy="5119256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95692-9BD0-4EB9-B344-9A6945DB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6746" y="872836"/>
            <a:ext cx="6634169" cy="5119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8527-7CED-4CF3-A260-649685D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26ADDCAE-6443-42C3-9C19-F95985500186}" type="datetime1">
              <a:rPr lang="en-US" smtClean="0"/>
              <a:t>3/23/2025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7F65-E517-4B50-B559-FD7D59F3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581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40B7-46EE-49D9-BE89-7E101F8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5031BF-2EA5-4128-B6AF-2D0F5A1010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96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E7D36-B1C9-463C-983F-AEA5810A60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9A221-B33F-47C2-85FF-2C8F363D797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0E0EF1-7626-4514-9337-271DD661B1E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F0B1492-9A00-4F80-8771-0BB2C2C4353C}"/>
              </a:ext>
            </a:extLst>
          </p:cNvPr>
          <p:cNvSpPr/>
          <p:nvPr/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62805-4F8E-44FE-905C-2C3F1A2B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5021C-0380-49AA-ADA1-A8B473FBF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A2409-F298-40BF-BFAC-65A3E71D2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89806E-8E94-473C-AEE7-BE6F15F85533}" type="datetime1">
              <a:rPr lang="en-US" smtClean="0"/>
              <a:t>3/23/2025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799D8-4DBF-4BB2-8D2B-65592ADC9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481" y="2361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9666-11C3-48A1-966C-439EBF9D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chemeClr val="tx1"/>
                </a:solidFill>
                <a:latin typeface="Bierstadt" panose="020B0504020202020204" pitchFamily="34" charset="0"/>
                <a:ea typeface="+mn-ea"/>
                <a:cs typeface="+mn-cs"/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FAC7B62-8ACC-41ED-80AB-8D1CDF38B9E4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FF525-9A83-4625-99D9-B267BDE077E7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197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76998AC3-6D37-0FBF-5ED2-25CAD30EE3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0707659" cy="6966699"/>
          </a:xfrm>
          <a:prstGeom prst="rect">
            <a:avLst/>
          </a:prstGeom>
        </p:spPr>
      </p:pic>
      <p:pic>
        <p:nvPicPr>
          <p:cNvPr id="9" name="Picture 8" descr="A group of women working on computers&#10;&#10;AI-generated content may be incorrect.">
            <a:extLst>
              <a:ext uri="{FF2B5EF4-FFF2-40B4-BE49-F238E27FC236}">
                <a16:creationId xmlns:a16="http://schemas.microsoft.com/office/drawing/2014/main" id="{1535C25B-91BA-8E9F-134C-E41E069C9F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612" y="-1"/>
            <a:ext cx="6182882" cy="695415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1864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3040E560-AD97-C943-3330-32D7CA302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C1E52C-7BFE-3783-F16F-53F934F632DC}"/>
              </a:ext>
            </a:extLst>
          </p:cNvPr>
          <p:cNvSpPr txBox="1"/>
          <p:nvPr/>
        </p:nvSpPr>
        <p:spPr>
          <a:xfrm>
            <a:off x="434898" y="869795"/>
            <a:ext cx="8430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F69CC7-DDF6-9C67-2B01-7CBA3AB31581}"/>
              </a:ext>
            </a:extLst>
          </p:cNvPr>
          <p:cNvSpPr txBox="1"/>
          <p:nvPr/>
        </p:nvSpPr>
        <p:spPr>
          <a:xfrm>
            <a:off x="434898" y="2155737"/>
            <a:ext cx="11117765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Text extraction from images faces several challenges: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Varied image quality and resolution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Different text orientations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Complex backgrounds and noise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Diverse font styles and sizes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Lighting variations and shadow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bg1"/>
                </a:solidFill>
              </a:rPr>
              <a:t>Project Objective: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Develop a robust system that uses multiple image processing 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techniques to improve OCR accuracy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1073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45D60923-C011-5256-668C-B0E36EBDD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DC6126-C3FF-33EE-50B9-88C0AEDF3264}"/>
              </a:ext>
            </a:extLst>
          </p:cNvPr>
          <p:cNvSpPr txBox="1"/>
          <p:nvPr/>
        </p:nvSpPr>
        <p:spPr>
          <a:xfrm>
            <a:off x="401444" y="652347"/>
            <a:ext cx="8430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System Architecture</a:t>
            </a:r>
          </a:p>
        </p:txBody>
      </p:sp>
      <p:pic>
        <p:nvPicPr>
          <p:cNvPr id="9" name="Picture 8" descr="A diagram of a project flow diagram&#10;&#10;AI-generated content may be incorrect.">
            <a:extLst>
              <a:ext uri="{FF2B5EF4-FFF2-40B4-BE49-F238E27FC236}">
                <a16:creationId xmlns:a16="http://schemas.microsoft.com/office/drawing/2014/main" id="{A9835158-30A7-D4A2-C57E-3F84F610EB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742" y="1805834"/>
            <a:ext cx="5664819" cy="43998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75FCFF-DF68-BEF4-82ED-DB3E96C081AE}"/>
              </a:ext>
            </a:extLst>
          </p:cNvPr>
          <p:cNvSpPr txBox="1"/>
          <p:nvPr/>
        </p:nvSpPr>
        <p:spPr>
          <a:xfrm>
            <a:off x="401444" y="2228671"/>
            <a:ext cx="51184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Three Main Components:</a:t>
            </a:r>
          </a:p>
          <a:p>
            <a:pPr>
              <a:buNone/>
            </a:pPr>
            <a:endParaRPr lang="en-US" sz="2400" b="1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arenR"/>
            </a:pPr>
            <a:r>
              <a:rPr lang="en-US" sz="2000" b="1" dirty="0">
                <a:solidFill>
                  <a:schemeClr val="bg1"/>
                </a:solidFill>
              </a:rPr>
              <a:t>Image Processors: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Apply transformations to optimize images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US" sz="2000" b="1" dirty="0">
                <a:solidFill>
                  <a:schemeClr val="bg1"/>
                </a:solidFill>
              </a:rPr>
              <a:t>Text Extractor: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Uses Tesseract OCR to extract text</a:t>
            </a:r>
          </a:p>
          <a:p>
            <a:pPr marL="457200" indent="-457200" algn="just">
              <a:buFont typeface="+mj-lt"/>
              <a:buAutoNum type="arabicParenR"/>
            </a:pPr>
            <a:r>
              <a:rPr lang="en-US" sz="2000" b="1" dirty="0">
                <a:solidFill>
                  <a:schemeClr val="bg1"/>
                </a:solidFill>
              </a:rPr>
              <a:t>Batch Processor: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Coordinates workflow for multiple images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787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722E9-7ACC-E452-7752-90CBFC98F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0D6C378B-59CA-0393-8034-ECFAFB4BA6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5067AD-592C-BDD4-D6EB-5DFEDF3A1CB7}"/>
              </a:ext>
            </a:extLst>
          </p:cNvPr>
          <p:cNvSpPr txBox="1"/>
          <p:nvPr/>
        </p:nvSpPr>
        <p:spPr>
          <a:xfrm>
            <a:off x="144966" y="301302"/>
            <a:ext cx="8552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Implementation - Image Processing</a:t>
            </a:r>
          </a:p>
        </p:txBody>
      </p:sp>
      <p:pic>
        <p:nvPicPr>
          <p:cNvPr id="4" name="Picture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ED90DF35-8D26-A2D5-B479-00E553777F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08" y="1622330"/>
            <a:ext cx="5374075" cy="5046099"/>
          </a:xfrm>
          <a:prstGeom prst="rect">
            <a:avLst/>
          </a:prstGeom>
        </p:spPr>
      </p:pic>
      <p:pic>
        <p:nvPicPr>
          <p:cNvPr id="7" name="Picture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D96C60AF-067B-A92D-CE79-0A1AD81276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891" y="1622329"/>
            <a:ext cx="5374075" cy="50461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03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18EDC-6D24-DD0D-35CE-32CEA2A5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5910292E-C48B-8662-5B31-C504AACB9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DDA549-37D7-29DA-78E5-4DA0689AB13C}"/>
              </a:ext>
            </a:extLst>
          </p:cNvPr>
          <p:cNvSpPr txBox="1"/>
          <p:nvPr/>
        </p:nvSpPr>
        <p:spPr>
          <a:xfrm>
            <a:off x="234175" y="323385"/>
            <a:ext cx="10047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Image Processing Transformations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0648C9-5724-8148-9819-5460B2B263AA}"/>
              </a:ext>
            </a:extLst>
          </p:cNvPr>
          <p:cNvSpPr txBox="1"/>
          <p:nvPr/>
        </p:nvSpPr>
        <p:spPr>
          <a:xfrm>
            <a:off x="367990" y="1204332"/>
            <a:ext cx="770549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dirty="0">
                <a:solidFill>
                  <a:schemeClr val="bg1"/>
                </a:solidFill>
              </a:rPr>
              <a:t>This code defines a list of transformations that are applied sequentially to an image: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No Transformation (Grayscale)</a:t>
            </a:r>
            <a:r>
              <a:rPr lang="en-US" dirty="0">
                <a:solidFill>
                  <a:schemeClr val="bg1"/>
                </a:solidFill>
              </a:rPr>
              <a:t>: Converts the image to grayscale.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Rotate 90°</a:t>
            </a:r>
            <a:r>
              <a:rPr lang="en-US" dirty="0">
                <a:solidFill>
                  <a:schemeClr val="bg1"/>
                </a:solidFill>
              </a:rPr>
              <a:t>: Converts to grayscale, then rotates the image 90°.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Rotate -90° (270°)</a:t>
            </a:r>
            <a:r>
              <a:rPr lang="en-US" dirty="0">
                <a:solidFill>
                  <a:schemeClr val="bg1"/>
                </a:solidFill>
              </a:rPr>
              <a:t>: Converts to grayscale, then rotates the image -90° (270°).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Rotate 15°</a:t>
            </a:r>
            <a:r>
              <a:rPr lang="en-US" dirty="0">
                <a:solidFill>
                  <a:schemeClr val="bg1"/>
                </a:solidFill>
              </a:rPr>
              <a:t>: Converts to grayscale, then rotates slightly clockwise (15°).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Rotate -15°</a:t>
            </a:r>
            <a:r>
              <a:rPr lang="en-US" dirty="0">
                <a:solidFill>
                  <a:schemeClr val="bg1"/>
                </a:solidFill>
              </a:rPr>
              <a:t>: Converts to grayscale, then rotates slightly counter-clockwise (-15°).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Horizontal Shift</a:t>
            </a:r>
            <a:r>
              <a:rPr lang="en-US" dirty="0">
                <a:solidFill>
                  <a:schemeClr val="bg1"/>
                </a:solidFill>
              </a:rPr>
              <a:t>: Converts to grayscale and shifts the image horizontally by cropping sides.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Vertical Shift</a:t>
            </a:r>
            <a:r>
              <a:rPr lang="en-US" dirty="0">
                <a:solidFill>
                  <a:schemeClr val="bg1"/>
                </a:solidFill>
              </a:rPr>
              <a:t>: Converts to grayscale and shifts the image vertically by cropping top and bottom.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Enhanced Contrast</a:t>
            </a:r>
            <a:r>
              <a:rPr lang="en-US" dirty="0">
                <a:solidFill>
                  <a:schemeClr val="bg1"/>
                </a:solidFill>
              </a:rPr>
              <a:t>: Converts to grayscale and enhances the contrast (1.5x).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Brightness Adjustment</a:t>
            </a:r>
            <a:r>
              <a:rPr lang="en-US" dirty="0">
                <a:solidFill>
                  <a:schemeClr val="bg1"/>
                </a:solidFill>
              </a:rPr>
              <a:t>: Converts to grayscale and adjusts the brightness (+20%).</a:t>
            </a:r>
          </a:p>
          <a:p>
            <a:pPr algn="just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Slight Skew</a:t>
            </a:r>
            <a:r>
              <a:rPr lang="en-US" dirty="0">
                <a:solidFill>
                  <a:schemeClr val="bg1"/>
                </a:solidFill>
              </a:rPr>
              <a:t>: Converts to grayscale and applies a slight 5° rotation as an alternative to skewing.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8408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B23F72BB-F009-97BF-88F2-F3EEF026B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394CDB-A17F-3551-3653-44B864F97C95}"/>
              </a:ext>
            </a:extLst>
          </p:cNvPr>
          <p:cNvSpPr txBox="1"/>
          <p:nvPr/>
        </p:nvSpPr>
        <p:spPr>
          <a:xfrm>
            <a:off x="256478" y="211201"/>
            <a:ext cx="98465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Image Processing Transformations Output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0397984-115F-1556-6F2B-CECDC7C26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470" y="1684589"/>
            <a:ext cx="3113862" cy="3488821"/>
          </a:xfrm>
          <a:prstGeom prst="rect">
            <a:avLst/>
          </a:prstGeom>
        </p:spPr>
      </p:pic>
      <p:pic>
        <p:nvPicPr>
          <p:cNvPr id="11" name="Picture 10" descr="A white card with black text&#10;&#10;AI-generated content may be incorrect.">
            <a:extLst>
              <a:ext uri="{FF2B5EF4-FFF2-40B4-BE49-F238E27FC236}">
                <a16:creationId xmlns:a16="http://schemas.microsoft.com/office/drawing/2014/main" id="{B2C13DD7-3E21-E4CA-F986-D28D271F4F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463" y="1684589"/>
            <a:ext cx="3555367" cy="3400367"/>
          </a:xfrm>
          <a:prstGeom prst="rect">
            <a:avLst/>
          </a:prstGeom>
        </p:spPr>
      </p:pic>
      <p:pic>
        <p:nvPicPr>
          <p:cNvPr id="13" name="Picture 1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3C839B1-841F-873E-3496-AEB3E032CE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395" y="1528651"/>
            <a:ext cx="2887824" cy="38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31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15E8D-F10A-74A3-EB2C-C7CF55223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82D79638-06B4-DA2F-CFF0-C01F361B7B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DC39EA-5577-661D-214B-8DE13D0661CE}"/>
              </a:ext>
            </a:extLst>
          </p:cNvPr>
          <p:cNvSpPr txBox="1"/>
          <p:nvPr/>
        </p:nvSpPr>
        <p:spPr>
          <a:xfrm>
            <a:off x="356838" y="501804"/>
            <a:ext cx="9244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Text Extraction with Tesseract</a:t>
            </a:r>
          </a:p>
        </p:txBody>
      </p:sp>
      <p:pic>
        <p:nvPicPr>
          <p:cNvPr id="6" name="Picture 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CC8218E-2B00-CAAD-8B88-439D39EC3D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017" y="1386683"/>
            <a:ext cx="7843266" cy="48356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384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D79A5-B3C3-33D5-49E5-521EA756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04AA9D58-E244-B2E3-A042-10A7E1EC00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2BCD66-B492-1531-07D9-3002277EF275}"/>
              </a:ext>
            </a:extLst>
          </p:cNvPr>
          <p:cNvSpPr txBox="1"/>
          <p:nvPr/>
        </p:nvSpPr>
        <p:spPr>
          <a:xfrm>
            <a:off x="323385" y="367990"/>
            <a:ext cx="7616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Tesseract OCR Configuration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1EDC75-3499-2E6A-E1D0-E587CC31C3D7}"/>
              </a:ext>
            </a:extLst>
          </p:cNvPr>
          <p:cNvSpPr txBox="1"/>
          <p:nvPr/>
        </p:nvSpPr>
        <p:spPr>
          <a:xfrm>
            <a:off x="490654" y="1650380"/>
            <a:ext cx="814039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sz="2000" b="1" dirty="0">
                <a:solidFill>
                  <a:schemeClr val="bg1"/>
                </a:solidFill>
              </a:rPr>
              <a:t>Tesseract Engine Setup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Initializes with English language and </a:t>
            </a:r>
            <a:r>
              <a:rPr lang="en-US" b="1" dirty="0">
                <a:solidFill>
                  <a:schemeClr val="bg1"/>
                </a:solidFill>
              </a:rPr>
              <a:t>Default</a:t>
            </a:r>
            <a:r>
              <a:rPr lang="en-US" dirty="0">
                <a:solidFill>
                  <a:schemeClr val="bg1"/>
                </a:solidFill>
              </a:rPr>
              <a:t> mode.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Configures settings for better recognition (e.g., interworld spaces, allowed characters, 300 DPI, and OCR engine mode).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Image Loading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Loads the image </a:t>
            </a:r>
            <a:r>
              <a:rPr lang="en-US" b="1" dirty="0" err="1">
                <a:solidFill>
                  <a:schemeClr val="bg1"/>
                </a:solidFill>
              </a:rPr>
              <a:t>usingPix.LoadFromFile</a:t>
            </a:r>
            <a:r>
              <a:rPr lang="en-US" b="1" dirty="0">
                <a:solidFill>
                  <a:schemeClr val="bg1"/>
                </a:solidFill>
              </a:rPr>
              <a:t>(</a:t>
            </a:r>
            <a:r>
              <a:rPr lang="en-US" b="1" dirty="0" err="1">
                <a:solidFill>
                  <a:schemeClr val="bg1"/>
                </a:solidFill>
              </a:rPr>
              <a:t>imagePath</a:t>
            </a:r>
            <a:r>
              <a:rPr lang="en-US" b="1" dirty="0">
                <a:solidFill>
                  <a:schemeClr val="bg1"/>
                </a:solidFill>
              </a:rPr>
              <a:t>). </a:t>
            </a:r>
            <a:r>
              <a:rPr lang="en-US" dirty="0">
                <a:solidFill>
                  <a:schemeClr val="bg1"/>
                </a:solidFill>
              </a:rPr>
              <a:t>Throws error if failed.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algn="just">
              <a:buNone/>
            </a:pPr>
            <a:r>
              <a:rPr lang="en-US" sz="2000" b="1" dirty="0">
                <a:solidFill>
                  <a:schemeClr val="bg1"/>
                </a:solidFill>
              </a:rPr>
              <a:t>Text Extraction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Processes the image, extracts text, and calculates confidence.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If text is found, it’s post-processed, and a sample is displayed. If not, shows a warning.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670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0ECC2-A7A9-2510-295E-6C19ACA92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8CB6C4DB-4785-C3DB-16BD-7416CCC3A1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2A9FA7-A087-F644-FBD3-D33F29A8E6FB}"/>
              </a:ext>
            </a:extLst>
          </p:cNvPr>
          <p:cNvSpPr txBox="1"/>
          <p:nvPr/>
        </p:nvSpPr>
        <p:spPr>
          <a:xfrm>
            <a:off x="323386" y="579863"/>
            <a:ext cx="74601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Batch Processing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585CB4-86A5-4510-51F4-9F8756646B47}"/>
              </a:ext>
            </a:extLst>
          </p:cNvPr>
          <p:cNvSpPr txBox="1"/>
          <p:nvPr/>
        </p:nvSpPr>
        <p:spPr>
          <a:xfrm>
            <a:off x="557561" y="1427356"/>
            <a:ext cx="576518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Process Fl</a:t>
            </a:r>
            <a:r>
              <a:rPr lang="en-US" sz="2000" b="1" dirty="0">
                <a:solidFill>
                  <a:schemeClr val="bg1"/>
                </a:solidFill>
              </a:rPr>
              <a:t>ow:</a:t>
            </a: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Load images from input folder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Apply multiple transformations to each image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Extract text from each processed version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Save extracted text to output folder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Fall back to original image if processing fails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Error Handling: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F4D8F264-FECE-32B5-1BD4-43A4586D9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11" y="3999084"/>
            <a:ext cx="6536977" cy="134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946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3DCAC-A9F4-C44C-C1FB-C74763EFC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C068A0AB-7C4F-6E7D-7AB6-5AA2C14E69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735607-73AA-8F34-A1FD-C542DBC0245D}"/>
              </a:ext>
            </a:extLst>
          </p:cNvPr>
          <p:cNvSpPr txBox="1"/>
          <p:nvPr/>
        </p:nvSpPr>
        <p:spPr>
          <a:xfrm>
            <a:off x="301083" y="435117"/>
            <a:ext cx="7125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Unit Testing for Image Processing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D67E9-3F90-38CA-81A3-D884320F49E9}"/>
              </a:ext>
            </a:extLst>
          </p:cNvPr>
          <p:cNvSpPr txBox="1"/>
          <p:nvPr/>
        </p:nvSpPr>
        <p:spPr>
          <a:xfrm>
            <a:off x="364273" y="1683834"/>
            <a:ext cx="573172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>
                <a:solidFill>
                  <a:schemeClr val="bg1"/>
                </a:solidFill>
              </a:rPr>
              <a:t>AdvancedImageProcessorTests</a:t>
            </a:r>
            <a:r>
              <a:rPr lang="en-US" sz="2000" dirty="0">
                <a:solidFill>
                  <a:schemeClr val="bg1"/>
                </a:solidFill>
              </a:rPr>
              <a:t>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Save Processed Images</a:t>
            </a:r>
            <a:r>
              <a:rPr lang="en-US" dirty="0">
                <a:solidFill>
                  <a:schemeClr val="bg1"/>
                </a:solidFill>
              </a:rPr>
              <a:t>: Verifies images are saved correctly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Invalid Path Handling</a:t>
            </a:r>
            <a:r>
              <a:rPr lang="en-US" dirty="0">
                <a:solidFill>
                  <a:schemeClr val="bg1"/>
                </a:solidFill>
              </a:rPr>
              <a:t>: Ensures invalid image paths throw an error.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 err="1">
                <a:solidFill>
                  <a:schemeClr val="bg1"/>
                </a:solidFill>
              </a:rPr>
              <a:t>ExperimentalImageProcessorTests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Apply All Techniques</a:t>
            </a:r>
            <a:r>
              <a:rPr lang="en-US" dirty="0">
                <a:solidFill>
                  <a:schemeClr val="bg1"/>
                </a:solidFill>
              </a:rPr>
              <a:t>: Ensures all processing techniques are applied and saved.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 err="1">
                <a:solidFill>
                  <a:schemeClr val="bg1"/>
                </a:solidFill>
              </a:rPr>
              <a:t>ImageBatchProcessorTests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Batch Processing</a:t>
            </a:r>
            <a:r>
              <a:rPr lang="en-US" dirty="0">
                <a:solidFill>
                  <a:schemeClr val="bg1"/>
                </a:solidFill>
              </a:rPr>
              <a:t>: Verifies batch processing of images and text extraction.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29DBE2-48C7-7E6B-B37D-D06F491C41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795" y="1683834"/>
            <a:ext cx="5880409" cy="38164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7932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CCAB805E-8BC0-187C-C05B-C1ABCE3BC3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583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F86807-66AF-9FB0-9E5C-420F9854BE19}"/>
              </a:ext>
            </a:extLst>
          </p:cNvPr>
          <p:cNvSpPr txBox="1"/>
          <p:nvPr/>
        </p:nvSpPr>
        <p:spPr>
          <a:xfrm>
            <a:off x="591015" y="557560"/>
            <a:ext cx="59882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Output of the Project:</a:t>
            </a:r>
          </a:p>
        </p:txBody>
      </p:sp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0AE157F-A35F-E44F-0D11-AAF92BF3F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697" y="1761451"/>
            <a:ext cx="8290605" cy="42166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94054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33792-DF3B-58F0-7300-800F0EBC0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with a blue background&#10;&#10;AI-generated content may be incorrect.">
            <a:extLst>
              <a:ext uri="{FF2B5EF4-FFF2-40B4-BE49-F238E27FC236}">
                <a16:creationId xmlns:a16="http://schemas.microsoft.com/office/drawing/2014/main" id="{0985DE3E-77B6-9546-2717-B28750CE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722503-D766-CCB4-BFD4-5AF2984F61DF}"/>
              </a:ext>
            </a:extLst>
          </p:cNvPr>
          <p:cNvSpPr txBox="1"/>
          <p:nvPr/>
        </p:nvSpPr>
        <p:spPr>
          <a:xfrm>
            <a:off x="457200" y="390512"/>
            <a:ext cx="8073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5ACC6E-FF9E-714C-4916-C54E784FBAB4}"/>
              </a:ext>
            </a:extLst>
          </p:cNvPr>
          <p:cNvSpPr txBox="1"/>
          <p:nvPr/>
        </p:nvSpPr>
        <p:spPr>
          <a:xfrm>
            <a:off x="546410" y="1315932"/>
            <a:ext cx="689145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This project successfully demonstrates the </a:t>
            </a:r>
            <a:r>
              <a:rPr lang="en-US" b="1" dirty="0">
                <a:solidFill>
                  <a:schemeClr val="bg1"/>
                </a:solidFill>
              </a:rPr>
              <a:t>importance of advanced image pre-processing</a:t>
            </a:r>
            <a:r>
              <a:rPr lang="en-US" dirty="0">
                <a:solidFill>
                  <a:schemeClr val="bg1"/>
                </a:solidFill>
              </a:rPr>
              <a:t> in improving OCR-based text extraction. By implementing a </a:t>
            </a:r>
            <a:r>
              <a:rPr lang="en-US" b="1" dirty="0">
                <a:solidFill>
                  <a:schemeClr val="bg1"/>
                </a:solidFill>
              </a:rPr>
              <a:t>modular and flexible system</a:t>
            </a:r>
            <a:r>
              <a:rPr lang="en-US" dirty="0">
                <a:solidFill>
                  <a:schemeClr val="bg1"/>
                </a:solidFill>
              </a:rPr>
              <a:t>, it allows seamless integration of additional transformations and alternative OCR engines, ensuring adaptability to diverse image conditions.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algn="just">
              <a:buNone/>
            </a:pPr>
            <a:r>
              <a:rPr lang="en-US" sz="2000" b="1" dirty="0">
                <a:solidFill>
                  <a:schemeClr val="bg1"/>
                </a:solidFill>
              </a:rPr>
              <a:t>Key Contributions: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Enhanced OCR Accuracy</a:t>
            </a:r>
            <a:r>
              <a:rPr lang="en-US" dirty="0">
                <a:solidFill>
                  <a:schemeClr val="bg1"/>
                </a:solidFill>
              </a:rPr>
              <a:t> – Applying multiple pre-processing techniques to maximize text recognition success rates.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Modular System Architecture</a:t>
            </a:r>
            <a:r>
              <a:rPr lang="en-US" dirty="0">
                <a:solidFill>
                  <a:schemeClr val="bg1"/>
                </a:solidFill>
              </a:rPr>
              <a:t> – Ensuring clear separation between image processing and text extraction for better scalability.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Optimized Post-processing</a:t>
            </a:r>
            <a:r>
              <a:rPr lang="en-US" dirty="0">
                <a:solidFill>
                  <a:schemeClr val="bg1"/>
                </a:solidFill>
              </a:rPr>
              <a:t> – Refining extracted text to improve readability and accuracy.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475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3C086FBD-ADDD-3147-FBBA-352D3772C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060" y="-79485"/>
            <a:ext cx="12270060" cy="6937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7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heme/theme1.xml><?xml version="1.0" encoding="utf-8"?>
<a:theme xmlns:a="http://schemas.openxmlformats.org/drawingml/2006/main" name="BevelVTI">
  <a:themeElements>
    <a:clrScheme name="Custom 148">
      <a:dk1>
        <a:srgbClr val="262626"/>
      </a:dk1>
      <a:lt1>
        <a:sysClr val="window" lastClr="FFFFFF"/>
      </a:lt1>
      <a:dk2>
        <a:srgbClr val="2F333D"/>
      </a:dk2>
      <a:lt2>
        <a:srgbClr val="ECF0F0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404040"/>
      </a:accent6>
      <a:hlink>
        <a:srgbClr val="3E8FF1"/>
      </a:hlink>
      <a:folHlink>
        <a:srgbClr val="939393"/>
      </a:folHlink>
    </a:clrScheme>
    <a:fontScheme name="Custom 53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velVTI" id="{C9E5F598-602B-46C1-AA16-073CEB959654}" vid="{2AE1FD39-65AD-4D34-93E9-C7019D0ECB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544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Bierstadt</vt:lpstr>
      <vt:lpstr>Wingdings</vt:lpstr>
      <vt:lpstr>BevelVTI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Romesa, --</dc:creator>
  <cp:lastModifiedBy>Fiza Akram</cp:lastModifiedBy>
  <cp:revision>9</cp:revision>
  <dcterms:created xsi:type="dcterms:W3CDTF">2025-03-03T19:14:07Z</dcterms:created>
  <dcterms:modified xsi:type="dcterms:W3CDTF">2025-03-23T19:02:52Z</dcterms:modified>
</cp:coreProperties>
</file>