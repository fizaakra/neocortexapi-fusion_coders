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5" r:id="rId1"/>
  </p:sldMasterIdLst>
  <p:sldIdLst>
    <p:sldId id="269" r:id="rId2"/>
    <p:sldId id="258" r:id="rId3"/>
    <p:sldId id="259" r:id="rId4"/>
    <p:sldId id="261" r:id="rId5"/>
    <p:sldId id="262" r:id="rId6"/>
    <p:sldId id="263" r:id="rId7"/>
    <p:sldId id="264" r:id="rId8"/>
    <p:sldId id="265" r:id="rId9"/>
    <p:sldId id="268" r:id="rId10"/>
    <p:sldId id="266" r:id="rId11"/>
    <p:sldId id="267" r:id="rId12"/>
    <p:sldId id="270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08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88375" autoAdjust="0"/>
  </p:normalViewPr>
  <p:slideViewPr>
    <p:cSldViewPr snapToGrid="0">
      <p:cViewPr varScale="1">
        <p:scale>
          <a:sx n="57" d="100"/>
          <a:sy n="57" d="100"/>
        </p:scale>
        <p:origin x="1016" y="-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D284A420-F50C-4C2C-B88E-E6F4EF504B6E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93A6D2E-5228-4998-9E24-EFCCA024675E}"/>
              </a:ext>
            </a:extLst>
          </p:cNvPr>
          <p:cNvSpPr/>
          <p:nvPr/>
        </p:nvSpPr>
        <p:spPr>
          <a:xfrm>
            <a:off x="0" y="-2"/>
            <a:ext cx="12188952" cy="3567547"/>
          </a:xfrm>
          <a:prstGeom prst="rect">
            <a:avLst/>
          </a:prstGeom>
          <a:ln>
            <a:noFill/>
          </a:ln>
          <a:effectLst>
            <a:outerShdw blurRad="228600" dist="152400" dir="5460000" sx="95000" sy="95000" algn="t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9D878C-9930-44AF-AE18-FCA0DAE10D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1802" y="852055"/>
            <a:ext cx="10380572" cy="2581463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82D608-1F8D-47BB-B595-43B7BEACA9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1802" y="3754582"/>
            <a:ext cx="10380572" cy="2244436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D3C1DA-DAC9-422B-9450-54A7E03B3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EE12-F28E-4B03-A404-A8FCAE0F6316}" type="datetime1">
              <a:rPr lang="en-US" smtClean="0"/>
              <a:t>3/22/2025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39A2B9-3E23-4C08-A5CE-698861210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12E61E-26F7-4369-8F2F-6D3CDF644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ADB48DB-8E25-4F2F-8C02-5B793937255F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32BA7E3-7313-49C8-A245-A85BDEB13EB3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04417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62CCA-8D32-44C3-809A-54D0245B8A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1" y="858982"/>
            <a:ext cx="10380573" cy="143227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689041-349C-49F8-B155-6F5862873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799" y="2750126"/>
            <a:ext cx="10381205" cy="32617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35E088-72B1-425B-B53B-81B1348261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62799E-EB8E-4038-8063-81BB57C732D4}" type="datetime1">
              <a:rPr lang="en-US" smtClean="0"/>
              <a:t>3/22/2025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180451-8BF9-48B2-8E6A-9E15C8335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68196E-3A76-4417-BFD8-4400D16E0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1639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CFB183B-99B9-4420-AB2D-07056851052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6DF62B9-1876-4EEB-929D-B46F98265E34}"/>
              </a:ext>
            </a:extLst>
          </p:cNvPr>
          <p:cNvSpPr/>
          <p:nvPr/>
        </p:nvSpPr>
        <p:spPr>
          <a:xfrm>
            <a:off x="0" y="-2"/>
            <a:ext cx="12192000" cy="3862064"/>
          </a:xfrm>
          <a:prstGeom prst="rect">
            <a:avLst/>
          </a:prstGeom>
          <a:ln>
            <a:noFill/>
          </a:ln>
          <a:effectLst>
            <a:outerShdw blurRad="203200" dist="127000" dir="5460000" sx="96000" sy="96000" algn="t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5F0E4DD-839A-4BD2-B5FA-FF319E87D037}"/>
              </a:ext>
            </a:extLst>
          </p:cNvPr>
          <p:cNvCxnSpPr>
            <a:cxnSpLocks/>
          </p:cNvCxnSpPr>
          <p:nvPr/>
        </p:nvCxnSpPr>
        <p:spPr>
          <a:xfrm>
            <a:off x="11668155" y="852056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7692C2FB-E558-4132-AAF5-EFCED0144B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1" y="852056"/>
            <a:ext cx="10380572" cy="257694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A20424-DA4E-467F-AC0A-D44192A54F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1797" y="4202832"/>
            <a:ext cx="10395116" cy="1789260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B39F9C-ADA9-4225-9D74-193A8894ED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2481" y="6236208"/>
            <a:ext cx="3037459" cy="365125"/>
          </a:xfrm>
        </p:spPr>
        <p:txBody>
          <a:bodyPr/>
          <a:lstStyle/>
          <a:p>
            <a:fld id="{217A73C3-B243-44D3-809D-EF8FDFBD85D4}" type="datetime1">
              <a:rPr lang="en-US" smtClean="0"/>
              <a:t>3/22/2025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057DEC-B96B-4D69-8B62-5156FDA6D9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2481" y="237744"/>
            <a:ext cx="41148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BF4AC1-9934-43DC-B9AC-322612A74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9782" y="237744"/>
            <a:ext cx="756746" cy="365760"/>
          </a:xfrm>
        </p:spPr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CBDA60A-39CD-41D4-8AE5-0FB7FD78559C}"/>
              </a:ext>
            </a:extLst>
          </p:cNvPr>
          <p:cNvCxnSpPr>
            <a:cxnSpLocks/>
          </p:cNvCxnSpPr>
          <p:nvPr/>
        </p:nvCxnSpPr>
        <p:spPr>
          <a:xfrm>
            <a:off x="11668155" y="852056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85831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CAF84-4A19-4D9A-9B82-46BCBED4F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1" y="858982"/>
            <a:ext cx="10380573" cy="143227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A373DD-26AC-4E69-A17C-538D9C7C68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61800" y="2833255"/>
            <a:ext cx="5045281" cy="3165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D30C23-A75F-45DF-BCCF-760C533AC7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7092" y="2833255"/>
            <a:ext cx="5045281" cy="3165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2C3974-73EC-4F1B-9E92-0E279ABEE5C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2481" y="6236208"/>
            <a:ext cx="3037459" cy="365125"/>
          </a:xfrm>
        </p:spPr>
        <p:txBody>
          <a:bodyPr/>
          <a:lstStyle/>
          <a:p>
            <a:fld id="{C9B6D3E3-28E2-4380-A113-67698215C5F8}" type="datetime1">
              <a:rPr lang="en-US" smtClean="0"/>
              <a:t>3/22/2025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70B3F2-3F28-42A3-9701-A6F01F1B18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2481" y="237744"/>
            <a:ext cx="41148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E7A2FC-50E7-4972-9F28-E3AC4EF93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9782" y="237744"/>
            <a:ext cx="756746" cy="365760"/>
          </a:xfrm>
        </p:spPr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9265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65F85-77E6-4F6D-9FFA-5D76201B13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2" y="872836"/>
            <a:ext cx="10380572" cy="14270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6C0DAE-58D1-45D9-9FC4-B0864E332C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1801" y="2713326"/>
            <a:ext cx="5023424" cy="823912"/>
          </a:xfrm>
        </p:spPr>
        <p:txBody>
          <a:bodyPr anchor="b">
            <a:normAutofit/>
          </a:bodyPr>
          <a:lstStyle>
            <a:lvl1pPr marL="0" indent="0">
              <a:buNone/>
              <a:defRPr sz="2400" b="0" i="1" u="none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1E63D7-9812-4EA1-A0A2-14D974311F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1801" y="3706091"/>
            <a:ext cx="5023424" cy="23344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C5055B-04A0-47D3-90ED-135025F857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094211" y="2713326"/>
            <a:ext cx="5048163" cy="823912"/>
          </a:xfrm>
        </p:spPr>
        <p:txBody>
          <a:bodyPr anchor="b">
            <a:normAutofit/>
          </a:bodyPr>
          <a:lstStyle>
            <a:lvl1pPr marL="0" indent="0">
              <a:buNone/>
              <a:defRPr sz="2400" b="0" i="1" u="none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936E6E-8F64-49E6-B57C-86CF92D168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094211" y="3706091"/>
            <a:ext cx="5048163" cy="23344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FFBEAD-2827-40DA-8338-2D691325F1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2481" y="6236208"/>
            <a:ext cx="3037459" cy="365125"/>
          </a:xfrm>
        </p:spPr>
        <p:txBody>
          <a:bodyPr/>
          <a:lstStyle/>
          <a:p>
            <a:fld id="{A9EFCB61-04AD-47C9-BF79-2BD8B9CEC07A}" type="datetime1">
              <a:rPr lang="en-US" smtClean="0"/>
              <a:t>3/22/2025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34B88D-9C6E-4A88-985C-3ED5057A1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2481" y="237744"/>
            <a:ext cx="41148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0B6A32-2D15-425F-B6A9-146AFB5C1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9782" y="237744"/>
            <a:ext cx="756746" cy="365760"/>
          </a:xfrm>
        </p:spPr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1653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81B7C-9BD5-4CF8-BAEB-A6CB78DA2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85F1D3-3353-4FC6-8854-51B0BFFD6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535E0C-D585-492F-8146-7493F4086301}" type="datetime1">
              <a:rPr lang="en-US" smtClean="0"/>
              <a:t>3/22/2025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226CE6-6BEB-46DB-BD4B-9B8AE89A1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81BCCC-8B3F-40B3-91D5-52E53B2AA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851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2C0FBB6-4CCA-4358-9DD5-CDF2173E63C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02559A-671A-4FDE-82C3-1CF8CFCF1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E48390-48B5-49AB-B019-A7C8FB8C31F6}" type="datetime1">
              <a:rPr lang="en-US" smtClean="0"/>
              <a:t>3/22/2025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A14275-250D-437E-BAF1-5BB3CDE64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D93BDE-2A52-4AA7-B222-0F25570EB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E6B771E-DDF7-430C-9462-BA1D3742C84E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07174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DF9A0B00-F6ED-4C3A-97DC-C2AF9D62EE8B}"/>
              </a:ext>
            </a:extLst>
          </p:cNvPr>
          <p:cNvSpPr/>
          <p:nvPr/>
        </p:nvSpPr>
        <p:spPr>
          <a:xfrm>
            <a:off x="79067" y="0"/>
            <a:ext cx="4998624" cy="6858000"/>
          </a:xfrm>
          <a:prstGeom prst="rect">
            <a:avLst/>
          </a:prstGeom>
          <a:ln>
            <a:noFill/>
          </a:ln>
          <a:effectLst>
            <a:outerShdw blurRad="228600" dist="114300" dir="21540000" sx="96000" sy="96000" algn="t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3" name="Rectangle 122">
            <a:extLst>
              <a:ext uri="{FF2B5EF4-FFF2-40B4-BE49-F238E27FC236}">
                <a16:creationId xmlns:a16="http://schemas.microsoft.com/office/drawing/2014/main" id="{3B025FD9-B9EF-4F5C-B67D-3485253B7A6A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7F545CD-A200-4C66-BF9A-9B839D0CE648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ln>
            <a:noFill/>
          </a:ln>
          <a:effectLst>
            <a:outerShdw blurRad="228600" dist="152400" dir="21540000" sx="96000" sy="96000" algn="t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110916-EEE9-418C-B24A-EC09A6D228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537" y="872836"/>
            <a:ext cx="4560525" cy="2281050"/>
          </a:xfrm>
        </p:spPr>
        <p:txBody>
          <a:bodyPr anchor="b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C3A0F4-FD98-409E-B41A-5F4352C6A8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1781" y="872837"/>
            <a:ext cx="4520593" cy="5140036"/>
          </a:xfrm>
        </p:spPr>
        <p:txBody>
          <a:bodyPr>
            <a:normAutofit/>
          </a:bodyPr>
          <a:lstStyle>
            <a:lvl1pPr algn="l">
              <a:defRPr sz="2800"/>
            </a:lvl1pPr>
            <a:lvl2pPr algn="l">
              <a:defRPr sz="2400"/>
            </a:lvl2pPr>
            <a:lvl3pPr algn="l">
              <a:defRPr sz="2000"/>
            </a:lvl3pPr>
            <a:lvl4pPr algn="l">
              <a:defRPr sz="1800"/>
            </a:lvl4pPr>
            <a:lvl5pPr algn="l"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FABF6F-6E7C-4B3F-B205-09361DA589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0537" y="3442854"/>
            <a:ext cx="4560525" cy="257694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25198D-8500-4277-AA5D-3C3D8FDDCF4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9184" y="6236208"/>
            <a:ext cx="3037459" cy="365125"/>
          </a:xfrm>
        </p:spPr>
        <p:txBody>
          <a:bodyPr/>
          <a:lstStyle/>
          <a:p>
            <a:fld id="{962E767E-8A14-4E70-91B9-2101CBC4D7BD}" type="datetime1">
              <a:rPr lang="en-US" smtClean="0"/>
              <a:t>3/22/2025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8D219F-027A-4632-9FB0-BD098D56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9184" y="237744"/>
            <a:ext cx="3792532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30C82B-C7DC-434D-8768-DE9D11767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237744"/>
            <a:ext cx="756746" cy="365760"/>
          </a:xfrm>
        </p:spPr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A8CCC603-9605-46C8-9034-8DAE6AC40DD9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CBBF1D9-8F8F-45A3-BDB4-952D0FB20A4D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43179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2" name="Rectangle 71">
            <a:extLst>
              <a:ext uri="{FF2B5EF4-FFF2-40B4-BE49-F238E27FC236}">
                <a16:creationId xmlns:a16="http://schemas.microsoft.com/office/drawing/2014/main" id="{CBEB8797-B080-41A6-B14E-8DC7F0F27E4E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C6C7272-A552-46B3-992F-F5ADD5AA2443}"/>
              </a:ext>
            </a:extLst>
          </p:cNvPr>
          <p:cNvSpPr/>
          <p:nvPr/>
        </p:nvSpPr>
        <p:spPr>
          <a:xfrm>
            <a:off x="-1" y="0"/>
            <a:ext cx="6087677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152400" dir="21540000" sx="96000" sy="96000" algn="t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5F6AD1-1E6C-46AF-8431-6627180FF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733" y="858981"/>
            <a:ext cx="4556749" cy="2281052"/>
          </a:xfrm>
        </p:spPr>
        <p:txBody>
          <a:bodyPr anchor="b"/>
          <a:lstStyle>
            <a:lvl1pPr>
              <a:def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88A91F9-760E-4CF4-8A03-FA1482C35E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59826" y="865909"/>
            <a:ext cx="4582548" cy="512618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49A9D5-BA6E-4C4A-88A0-5BB86958B8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68733" y="3429000"/>
            <a:ext cx="4556749" cy="2590800"/>
          </a:xfrm>
        </p:spPr>
        <p:txBody>
          <a:bodyPr/>
          <a:lstStyle>
            <a:lvl1pPr marL="0" indent="0">
              <a:buNone/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56899E-70A1-4EFB-87EC-6C4F3BC0360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9184" y="6236208"/>
            <a:ext cx="3037459" cy="365125"/>
          </a:xfrm>
        </p:spPr>
        <p:txBody>
          <a:bodyPr/>
          <a:lstStyle/>
          <a:p>
            <a:fld id="{01AF0C4B-5A4A-45CA-ABEC-10F107160D33}" type="datetime1">
              <a:rPr lang="en-US" smtClean="0"/>
              <a:t>3/22/2025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C34B05-4931-4BC8-BD43-9E6B944B30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9184" y="237744"/>
            <a:ext cx="41148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4ABE5D-7EA4-4D33-B23E-52E640CBF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237744"/>
            <a:ext cx="756746" cy="365760"/>
          </a:xfrm>
        </p:spPr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DF0DB5EA-94EC-4DB5-B8E5-B454005C1552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699FF82-B951-46E6-AEA7-0993C867FB6D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90447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4F69F7-12D5-40F0-88F0-33D60AEB0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5BB511-E79D-41D8-AF91-14A5C803FC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05DFA-4DAF-4B30-8032-503081AEA4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8B8189-0D9C-48A6-9FA3-862227B094CE}" type="datetime1">
              <a:rPr lang="en-US" smtClean="0"/>
              <a:t>3/22/2025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34FBF5-16C0-46A0-916A-4910C1B61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626EA6-7E48-454C-887A-0EF3356F9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6883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A312BAB-A07B-4FEA-8EB5-A7BD8B24C6D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245A432-7E52-48B5-A8BB-13EED592E35A}"/>
              </a:ext>
            </a:extLst>
          </p:cNvPr>
          <p:cNvSpPr/>
          <p:nvPr/>
        </p:nvSpPr>
        <p:spPr>
          <a:xfrm>
            <a:off x="7813964" y="0"/>
            <a:ext cx="4378036" cy="6858000"/>
          </a:xfrm>
          <a:prstGeom prst="rect">
            <a:avLst/>
          </a:prstGeom>
          <a:ln>
            <a:noFill/>
          </a:ln>
          <a:effectLst>
            <a:outerShdw blurRad="254000" dist="152400" dir="10680000" sx="95000" sy="95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56288B6-16BD-4DEE-9187-C78963ED1D8A}"/>
              </a:ext>
            </a:extLst>
          </p:cNvPr>
          <p:cNvCxnSpPr>
            <a:cxnSpLocks/>
          </p:cNvCxnSpPr>
          <p:nvPr/>
        </p:nvCxnSpPr>
        <p:spPr>
          <a:xfrm rot="16200000" flipH="1">
            <a:off x="10361537" y="120772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259F7B-ED77-4251-A424-93712C6F57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139544" y="872836"/>
            <a:ext cx="2521527" cy="5119256"/>
          </a:xfrm>
        </p:spPr>
        <p:txBody>
          <a:bodyPr vert="eaVert"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295692-9BD0-4EB9-B344-9A6945DB0B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56746" y="872836"/>
            <a:ext cx="6634169" cy="51192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128527-7CED-4CF3-A260-649685D2E6D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9184" y="6236208"/>
            <a:ext cx="3037459" cy="365125"/>
          </a:xfrm>
        </p:spPr>
        <p:txBody>
          <a:bodyPr/>
          <a:lstStyle/>
          <a:p>
            <a:fld id="{26ADDCAE-6443-42C3-9C19-F95985500186}" type="datetime1">
              <a:rPr lang="en-US" smtClean="0"/>
              <a:t>3/22/2025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517F65-E517-4B50-B559-FD7D59F3E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9184" y="237744"/>
            <a:ext cx="35814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ED40B7-46EE-49D9-BE89-7E101F80A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237744"/>
            <a:ext cx="756746" cy="365760"/>
          </a:xfrm>
        </p:spPr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05031BF-2EA5-4128-B6AF-2D0F5A101095}"/>
              </a:ext>
            </a:extLst>
          </p:cNvPr>
          <p:cNvCxnSpPr>
            <a:cxnSpLocks/>
          </p:cNvCxnSpPr>
          <p:nvPr/>
        </p:nvCxnSpPr>
        <p:spPr>
          <a:xfrm rot="16200000" flipH="1">
            <a:off x="10361537" y="120772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39615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38E7D36-B1C9-463C-983F-AEA5810A60D0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B9A221-B33F-47C2-85FF-2C8F363D797B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D0E0EF1-7626-4514-9337-271DD661B1EB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65" name="Rectangle 64">
            <a:extLst>
              <a:ext uri="{FF2B5EF4-FFF2-40B4-BE49-F238E27FC236}">
                <a16:creationId xmlns:a16="http://schemas.microsoft.com/office/drawing/2014/main" id="{5F0B1492-9A00-4F80-8771-0BB2C2C4353C}"/>
              </a:ext>
            </a:extLst>
          </p:cNvPr>
          <p:cNvSpPr/>
          <p:nvPr/>
        </p:nvSpPr>
        <p:spPr>
          <a:xfrm>
            <a:off x="0" y="-2"/>
            <a:ext cx="12188952" cy="2544415"/>
          </a:xfrm>
          <a:prstGeom prst="rect">
            <a:avLst/>
          </a:prstGeom>
          <a:ln>
            <a:noFill/>
          </a:ln>
          <a:effectLst>
            <a:outerShdw blurRad="190500" dist="127000" dir="5460000" sx="94000" sy="94000" algn="t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462805-4F8E-44FE-905C-2C3F1A2B3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1" y="858982"/>
            <a:ext cx="10380573" cy="143227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45021C-0380-49AA-ADA1-A8B473FBF5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1799" y="2750126"/>
            <a:ext cx="10381205" cy="32617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7A2409-F298-40BF-BFAC-65A3E71D29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32481" y="6240079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989806E-8E94-473C-AEE7-BE6F15F85533}" type="datetime1">
              <a:rPr lang="en-US" smtClean="0"/>
              <a:t>3/22/2025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4799D8-4DBF-4BB2-8D2B-65592ADC90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2481" y="236199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F99666-11C3-48A1-966C-439EBF9D9A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89782" y="235881"/>
            <a:ext cx="756746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1" kern="1200" smtClean="0">
                <a:solidFill>
                  <a:schemeClr val="tx1"/>
                </a:solidFill>
                <a:latin typeface="Bierstadt" panose="020B0504020202020204" pitchFamily="34" charset="0"/>
                <a:ea typeface="+mn-ea"/>
                <a:cs typeface="+mn-cs"/>
              </a:defRPr>
            </a:lvl1pPr>
          </a:lstStyle>
          <a:p>
            <a:fld id="{B4A918BC-4D43-4B42-B3C0-E7EBE25E6AF0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7FAC7B62-8ACC-41ED-80AB-8D1CDF38B9E4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45FF525-9A83-4625-99D9-B267BDE077E7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1976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21" r:id="rId2"/>
    <p:sldLayoutId id="2147483722" r:id="rId3"/>
    <p:sldLayoutId id="2147483723" r:id="rId4"/>
    <p:sldLayoutId id="2147483724" r:id="rId5"/>
    <p:sldLayoutId id="2147483718" r:id="rId6"/>
    <p:sldLayoutId id="2147483714" r:id="rId7"/>
    <p:sldLayoutId id="2147483715" r:id="rId8"/>
    <p:sldLayoutId id="2147483716" r:id="rId9"/>
    <p:sldLayoutId id="2147483717" r:id="rId10"/>
    <p:sldLayoutId id="2147483719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None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creenshot of a phone&#10;&#10;AI-generated content may be incorrect.">
            <a:extLst>
              <a:ext uri="{FF2B5EF4-FFF2-40B4-BE49-F238E27FC236}">
                <a16:creationId xmlns:a16="http://schemas.microsoft.com/office/drawing/2014/main" id="{76998AC3-6D37-0FBF-5ED2-25CAD30EE3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"/>
            <a:ext cx="10707659" cy="6966699"/>
          </a:xfrm>
          <a:prstGeom prst="rect">
            <a:avLst/>
          </a:prstGeom>
        </p:spPr>
      </p:pic>
      <p:pic>
        <p:nvPicPr>
          <p:cNvPr id="9" name="Picture 8" descr="A group of women working on computers&#10;&#10;AI-generated content may be incorrect.">
            <a:extLst>
              <a:ext uri="{FF2B5EF4-FFF2-40B4-BE49-F238E27FC236}">
                <a16:creationId xmlns:a16="http://schemas.microsoft.com/office/drawing/2014/main" id="{1535C25B-91BA-8E9F-134C-E41E069C9F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4612" y="-1"/>
            <a:ext cx="6182882" cy="6954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18649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screen with a blue background&#10;&#10;AI-generated content may be incorrect.">
            <a:extLst>
              <a:ext uri="{FF2B5EF4-FFF2-40B4-BE49-F238E27FC236}">
                <a16:creationId xmlns:a16="http://schemas.microsoft.com/office/drawing/2014/main" id="{3040E560-AD97-C943-3330-32D7CA3029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2C1E52C-7BFE-3783-F16F-53F934F632DC}"/>
              </a:ext>
            </a:extLst>
          </p:cNvPr>
          <p:cNvSpPr txBox="1"/>
          <p:nvPr/>
        </p:nvSpPr>
        <p:spPr>
          <a:xfrm>
            <a:off x="434898" y="869795"/>
            <a:ext cx="84303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Introduction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F69CC7-DDF6-9C67-2B01-7CBA3AB31581}"/>
              </a:ext>
            </a:extLst>
          </p:cNvPr>
          <p:cNvSpPr txBox="1"/>
          <p:nvPr/>
        </p:nvSpPr>
        <p:spPr>
          <a:xfrm>
            <a:off x="434898" y="2155737"/>
            <a:ext cx="11117765" cy="3262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000" b="1" dirty="0">
                <a:solidFill>
                  <a:schemeClr val="bg1"/>
                </a:solidFill>
              </a:rPr>
              <a:t>Text extraction from images faces several challenges: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Varied image quality and resolution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Different text orientations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Complex backgrounds and noise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Diverse font styles and sizes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Lighting variations and shadow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b="1" dirty="0">
                <a:solidFill>
                  <a:schemeClr val="bg1"/>
                </a:solidFill>
              </a:rPr>
              <a:t>Project Objective: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</a:p>
          <a:p>
            <a:pPr algn="just"/>
            <a:r>
              <a:rPr lang="en-US" dirty="0">
                <a:solidFill>
                  <a:schemeClr val="bg1"/>
                </a:solidFill>
              </a:rPr>
              <a:t>Develop a robust system that uses multiple image processing </a:t>
            </a:r>
          </a:p>
          <a:p>
            <a:pPr algn="just"/>
            <a:r>
              <a:rPr lang="en-US" dirty="0">
                <a:solidFill>
                  <a:schemeClr val="bg1"/>
                </a:solidFill>
              </a:rPr>
              <a:t>techniques to improve OCR accuracy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1073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screen with a blue background&#10;&#10;AI-generated content may be incorrect.">
            <a:extLst>
              <a:ext uri="{FF2B5EF4-FFF2-40B4-BE49-F238E27FC236}">
                <a16:creationId xmlns:a16="http://schemas.microsoft.com/office/drawing/2014/main" id="{45D60923-C011-5256-668C-B0E36EBDD3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9DC6126-C3FF-33EE-50B9-88C0AEDF3264}"/>
              </a:ext>
            </a:extLst>
          </p:cNvPr>
          <p:cNvSpPr txBox="1"/>
          <p:nvPr/>
        </p:nvSpPr>
        <p:spPr>
          <a:xfrm>
            <a:off x="401444" y="652347"/>
            <a:ext cx="84303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System Architecture</a:t>
            </a:r>
          </a:p>
        </p:txBody>
      </p:sp>
      <p:pic>
        <p:nvPicPr>
          <p:cNvPr id="9" name="Picture 8" descr="A diagram of a project flow diagram&#10;&#10;AI-generated content may be incorrect.">
            <a:extLst>
              <a:ext uri="{FF2B5EF4-FFF2-40B4-BE49-F238E27FC236}">
                <a16:creationId xmlns:a16="http://schemas.microsoft.com/office/drawing/2014/main" id="{A9835158-30A7-D4A2-C57E-3F84F610EB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2742" y="1805834"/>
            <a:ext cx="5664819" cy="439981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D75FCFF-DF68-BEF4-82ED-DB3E96C081AE}"/>
              </a:ext>
            </a:extLst>
          </p:cNvPr>
          <p:cNvSpPr txBox="1"/>
          <p:nvPr/>
        </p:nvSpPr>
        <p:spPr>
          <a:xfrm>
            <a:off x="401444" y="2228671"/>
            <a:ext cx="511841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bg1"/>
                </a:solidFill>
              </a:rPr>
              <a:t>Three Main Components:</a:t>
            </a:r>
          </a:p>
          <a:p>
            <a:pPr>
              <a:buNone/>
            </a:pPr>
            <a:endParaRPr lang="en-US" sz="2400" b="1" dirty="0">
              <a:solidFill>
                <a:schemeClr val="bg1"/>
              </a:solidFill>
            </a:endParaRPr>
          </a:p>
          <a:p>
            <a:pPr marL="457200" indent="-457200" algn="just">
              <a:buFont typeface="+mj-lt"/>
              <a:buAutoNum type="arabicParenR"/>
            </a:pPr>
            <a:r>
              <a:rPr lang="en-US" sz="2000" b="1" dirty="0">
                <a:solidFill>
                  <a:schemeClr val="bg1"/>
                </a:solidFill>
              </a:rPr>
              <a:t>Image Processors: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Apply transformations to optimize images</a:t>
            </a:r>
          </a:p>
          <a:p>
            <a:pPr marL="457200" indent="-457200" algn="just">
              <a:buFont typeface="+mj-lt"/>
              <a:buAutoNum type="arabicParenR"/>
            </a:pPr>
            <a:r>
              <a:rPr lang="en-US" sz="2000" b="1" dirty="0">
                <a:solidFill>
                  <a:schemeClr val="bg1"/>
                </a:solidFill>
              </a:rPr>
              <a:t>Text Extractor: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Uses Tesseract OCR to extract text</a:t>
            </a:r>
          </a:p>
          <a:p>
            <a:pPr marL="457200" indent="-457200" algn="just">
              <a:buFont typeface="+mj-lt"/>
              <a:buAutoNum type="arabicParenR"/>
            </a:pPr>
            <a:r>
              <a:rPr lang="en-US" sz="2000" b="1" dirty="0">
                <a:solidFill>
                  <a:schemeClr val="bg1"/>
                </a:solidFill>
              </a:rPr>
              <a:t>Batch Processor: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Coordinates workflow for multiple images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7871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722E9-7ACC-E452-7752-90CBFC98F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screen with a blue background&#10;&#10;AI-generated content may be incorrect.">
            <a:extLst>
              <a:ext uri="{FF2B5EF4-FFF2-40B4-BE49-F238E27FC236}">
                <a16:creationId xmlns:a16="http://schemas.microsoft.com/office/drawing/2014/main" id="{0D6C378B-59CA-0393-8034-ECFAFB4BA6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85067AD-592C-BDD4-D6EB-5DFEDF3A1CB7}"/>
              </a:ext>
            </a:extLst>
          </p:cNvPr>
          <p:cNvSpPr txBox="1"/>
          <p:nvPr/>
        </p:nvSpPr>
        <p:spPr>
          <a:xfrm>
            <a:off x="144966" y="301302"/>
            <a:ext cx="85529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Implementation - Image Processing</a:t>
            </a:r>
          </a:p>
        </p:txBody>
      </p:sp>
      <p:pic>
        <p:nvPicPr>
          <p:cNvPr id="4" name="Picture 3" descr="A computer screen shot of a program&#10;&#10;AI-generated content may be incorrect.">
            <a:extLst>
              <a:ext uri="{FF2B5EF4-FFF2-40B4-BE49-F238E27FC236}">
                <a16:creationId xmlns:a16="http://schemas.microsoft.com/office/drawing/2014/main" id="{ED90DF35-8D26-A2D5-B479-00E553777F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408" y="1622330"/>
            <a:ext cx="5374075" cy="5046099"/>
          </a:xfrm>
          <a:prstGeom prst="rect">
            <a:avLst/>
          </a:prstGeom>
        </p:spPr>
      </p:pic>
      <p:pic>
        <p:nvPicPr>
          <p:cNvPr id="7" name="Picture 6" descr="A computer screen shot of a program code&#10;&#10;AI-generated content may be incorrect.">
            <a:extLst>
              <a:ext uri="{FF2B5EF4-FFF2-40B4-BE49-F238E27FC236}">
                <a16:creationId xmlns:a16="http://schemas.microsoft.com/office/drawing/2014/main" id="{D96C60AF-067B-A92D-CE79-0A1AD812765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0891" y="1622329"/>
            <a:ext cx="5374075" cy="5046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383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18EDC-6D24-DD0D-35CE-32CEA2A51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screen with a blue background&#10;&#10;AI-generated content may be incorrect.">
            <a:extLst>
              <a:ext uri="{FF2B5EF4-FFF2-40B4-BE49-F238E27FC236}">
                <a16:creationId xmlns:a16="http://schemas.microsoft.com/office/drawing/2014/main" id="{5910292E-C48B-8662-5B31-C504AACB9C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DDDA549-37D7-29DA-78E5-4DA0689AB13C}"/>
              </a:ext>
            </a:extLst>
          </p:cNvPr>
          <p:cNvSpPr txBox="1"/>
          <p:nvPr/>
        </p:nvSpPr>
        <p:spPr>
          <a:xfrm>
            <a:off x="234175" y="323385"/>
            <a:ext cx="100472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Image Processing Transformations</a:t>
            </a:r>
            <a:endParaRPr lang="en-US" sz="36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20648C9-5724-8148-9819-5460B2B263AA}"/>
              </a:ext>
            </a:extLst>
          </p:cNvPr>
          <p:cNvSpPr txBox="1"/>
          <p:nvPr/>
        </p:nvSpPr>
        <p:spPr>
          <a:xfrm>
            <a:off x="367990" y="1204332"/>
            <a:ext cx="7705493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None/>
            </a:pPr>
            <a:r>
              <a:rPr lang="en-US" dirty="0">
                <a:solidFill>
                  <a:schemeClr val="bg1"/>
                </a:solidFill>
              </a:rPr>
              <a:t>This code defines a list of transformations that are applied sequentially to an image:</a:t>
            </a:r>
          </a:p>
          <a:p>
            <a:pPr algn="just">
              <a:buFont typeface="+mj-lt"/>
              <a:buAutoNum type="arabicPeriod"/>
            </a:pPr>
            <a:r>
              <a:rPr lang="en-US" b="1" dirty="0">
                <a:solidFill>
                  <a:schemeClr val="bg1"/>
                </a:solidFill>
              </a:rPr>
              <a:t>No Transformation (Grayscale)</a:t>
            </a:r>
            <a:r>
              <a:rPr lang="en-US" dirty="0">
                <a:solidFill>
                  <a:schemeClr val="bg1"/>
                </a:solidFill>
              </a:rPr>
              <a:t>: Converts the image to grayscale.</a:t>
            </a:r>
          </a:p>
          <a:p>
            <a:pPr algn="just">
              <a:buFont typeface="+mj-lt"/>
              <a:buAutoNum type="arabicPeriod"/>
            </a:pPr>
            <a:r>
              <a:rPr lang="en-US" b="1" dirty="0">
                <a:solidFill>
                  <a:schemeClr val="bg1"/>
                </a:solidFill>
              </a:rPr>
              <a:t>Rotate 90°</a:t>
            </a:r>
            <a:r>
              <a:rPr lang="en-US" dirty="0">
                <a:solidFill>
                  <a:schemeClr val="bg1"/>
                </a:solidFill>
              </a:rPr>
              <a:t>: Converts to grayscale, then rotates the image 90°.</a:t>
            </a:r>
          </a:p>
          <a:p>
            <a:pPr algn="just">
              <a:buFont typeface="+mj-lt"/>
              <a:buAutoNum type="arabicPeriod"/>
            </a:pPr>
            <a:r>
              <a:rPr lang="en-US" b="1" dirty="0">
                <a:solidFill>
                  <a:schemeClr val="bg1"/>
                </a:solidFill>
              </a:rPr>
              <a:t>Rotate -90° (270°)</a:t>
            </a:r>
            <a:r>
              <a:rPr lang="en-US" dirty="0">
                <a:solidFill>
                  <a:schemeClr val="bg1"/>
                </a:solidFill>
              </a:rPr>
              <a:t>: Converts to grayscale, then rotates the image -90° (270°).</a:t>
            </a:r>
          </a:p>
          <a:p>
            <a:pPr algn="just">
              <a:buFont typeface="+mj-lt"/>
              <a:buAutoNum type="arabicPeriod"/>
            </a:pPr>
            <a:r>
              <a:rPr lang="en-US" b="1" dirty="0">
                <a:solidFill>
                  <a:schemeClr val="bg1"/>
                </a:solidFill>
              </a:rPr>
              <a:t>Rotate 15°</a:t>
            </a:r>
            <a:r>
              <a:rPr lang="en-US" dirty="0">
                <a:solidFill>
                  <a:schemeClr val="bg1"/>
                </a:solidFill>
              </a:rPr>
              <a:t>: Converts to grayscale, then rotates slightly clockwise (15°).</a:t>
            </a:r>
          </a:p>
          <a:p>
            <a:pPr algn="just">
              <a:buFont typeface="+mj-lt"/>
              <a:buAutoNum type="arabicPeriod"/>
            </a:pPr>
            <a:r>
              <a:rPr lang="en-US" b="1" dirty="0">
                <a:solidFill>
                  <a:schemeClr val="bg1"/>
                </a:solidFill>
              </a:rPr>
              <a:t>Rotate -15°</a:t>
            </a:r>
            <a:r>
              <a:rPr lang="en-US" dirty="0">
                <a:solidFill>
                  <a:schemeClr val="bg1"/>
                </a:solidFill>
              </a:rPr>
              <a:t>: Converts to grayscale, then rotates slightly counter-clockwise (-15°).</a:t>
            </a:r>
          </a:p>
          <a:p>
            <a:pPr algn="just">
              <a:buFont typeface="+mj-lt"/>
              <a:buAutoNum type="arabicPeriod"/>
            </a:pPr>
            <a:r>
              <a:rPr lang="en-US" b="1" dirty="0">
                <a:solidFill>
                  <a:schemeClr val="bg1"/>
                </a:solidFill>
              </a:rPr>
              <a:t>Horizontal Shift</a:t>
            </a:r>
            <a:r>
              <a:rPr lang="en-US" dirty="0">
                <a:solidFill>
                  <a:schemeClr val="bg1"/>
                </a:solidFill>
              </a:rPr>
              <a:t>: Converts to grayscale and shifts the image horizontally by cropping sides.</a:t>
            </a:r>
          </a:p>
          <a:p>
            <a:pPr algn="just">
              <a:buFont typeface="+mj-lt"/>
              <a:buAutoNum type="arabicPeriod"/>
            </a:pPr>
            <a:r>
              <a:rPr lang="en-US" b="1" dirty="0">
                <a:solidFill>
                  <a:schemeClr val="bg1"/>
                </a:solidFill>
              </a:rPr>
              <a:t>Vertical Shift</a:t>
            </a:r>
            <a:r>
              <a:rPr lang="en-US" dirty="0">
                <a:solidFill>
                  <a:schemeClr val="bg1"/>
                </a:solidFill>
              </a:rPr>
              <a:t>: Converts to grayscale and shifts the image vertically by cropping top and bottom.</a:t>
            </a:r>
          </a:p>
          <a:p>
            <a:pPr algn="just">
              <a:buFont typeface="+mj-lt"/>
              <a:buAutoNum type="arabicPeriod"/>
            </a:pPr>
            <a:r>
              <a:rPr lang="en-US" b="1" dirty="0">
                <a:solidFill>
                  <a:schemeClr val="bg1"/>
                </a:solidFill>
              </a:rPr>
              <a:t>Enhanced Contrast</a:t>
            </a:r>
            <a:r>
              <a:rPr lang="en-US" dirty="0">
                <a:solidFill>
                  <a:schemeClr val="bg1"/>
                </a:solidFill>
              </a:rPr>
              <a:t>: Converts to grayscale and enhances the contrast (1.5x).</a:t>
            </a:r>
          </a:p>
          <a:p>
            <a:pPr algn="just">
              <a:buFont typeface="+mj-lt"/>
              <a:buAutoNum type="arabicPeriod"/>
            </a:pPr>
            <a:r>
              <a:rPr lang="en-US" b="1" dirty="0">
                <a:solidFill>
                  <a:schemeClr val="bg1"/>
                </a:solidFill>
              </a:rPr>
              <a:t>Brightness Adjustment</a:t>
            </a:r>
            <a:r>
              <a:rPr lang="en-US" dirty="0">
                <a:solidFill>
                  <a:schemeClr val="bg1"/>
                </a:solidFill>
              </a:rPr>
              <a:t>: Converts to grayscale and adjusts the brightness (+20%).</a:t>
            </a:r>
          </a:p>
          <a:p>
            <a:pPr algn="just">
              <a:buFont typeface="+mj-lt"/>
              <a:buAutoNum type="arabicPeriod"/>
            </a:pPr>
            <a:r>
              <a:rPr lang="en-US" b="1" dirty="0">
                <a:solidFill>
                  <a:schemeClr val="bg1"/>
                </a:solidFill>
              </a:rPr>
              <a:t>Slight Skew</a:t>
            </a:r>
            <a:r>
              <a:rPr lang="en-US" dirty="0">
                <a:solidFill>
                  <a:schemeClr val="bg1"/>
                </a:solidFill>
              </a:rPr>
              <a:t>: Converts to grayscale and applies a slight 5° rotation as an alternative to skewing.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8408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15E8D-F10A-74A3-EB2C-C7CF55223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screen with a blue background&#10;&#10;AI-generated content may be incorrect.">
            <a:extLst>
              <a:ext uri="{FF2B5EF4-FFF2-40B4-BE49-F238E27FC236}">
                <a16:creationId xmlns:a16="http://schemas.microsoft.com/office/drawing/2014/main" id="{82D79638-06B4-DA2F-CFF0-C01F361B7B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6DC39EA-5577-661D-214B-8DE13D0661CE}"/>
              </a:ext>
            </a:extLst>
          </p:cNvPr>
          <p:cNvSpPr txBox="1"/>
          <p:nvPr/>
        </p:nvSpPr>
        <p:spPr>
          <a:xfrm>
            <a:off x="356838" y="501804"/>
            <a:ext cx="92443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Text Extraction with Tesseract</a:t>
            </a:r>
          </a:p>
        </p:txBody>
      </p:sp>
      <p:pic>
        <p:nvPicPr>
          <p:cNvPr id="6" name="Picture 5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4CC8218E-2B00-CAAD-8B88-439D39EC3D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9017" y="1386683"/>
            <a:ext cx="7843266" cy="4835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3845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D79A5-B3C3-33D5-49E5-521EA7562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screen with a blue background&#10;&#10;AI-generated content may be incorrect.">
            <a:extLst>
              <a:ext uri="{FF2B5EF4-FFF2-40B4-BE49-F238E27FC236}">
                <a16:creationId xmlns:a16="http://schemas.microsoft.com/office/drawing/2014/main" id="{04AA9D58-E244-B2E3-A042-10A7E1EC00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92BCD66-B492-1531-07D9-3002277EF275}"/>
              </a:ext>
            </a:extLst>
          </p:cNvPr>
          <p:cNvSpPr txBox="1"/>
          <p:nvPr/>
        </p:nvSpPr>
        <p:spPr>
          <a:xfrm>
            <a:off x="323385" y="367990"/>
            <a:ext cx="76162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Tesseract OCR Configuration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1EDC75-3499-2E6A-E1D0-E587CC31C3D7}"/>
              </a:ext>
            </a:extLst>
          </p:cNvPr>
          <p:cNvSpPr txBox="1"/>
          <p:nvPr/>
        </p:nvSpPr>
        <p:spPr>
          <a:xfrm>
            <a:off x="490654" y="1650380"/>
            <a:ext cx="8140390" cy="4339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None/>
            </a:pPr>
            <a:r>
              <a:rPr lang="en-US" sz="2000" b="1" dirty="0">
                <a:solidFill>
                  <a:schemeClr val="bg1"/>
                </a:solidFill>
              </a:rPr>
              <a:t>Tesseract Engine Setup</a:t>
            </a:r>
            <a:r>
              <a:rPr lang="en-US" sz="2000" dirty="0">
                <a:solidFill>
                  <a:schemeClr val="bg1"/>
                </a:solidFill>
              </a:rPr>
              <a:t>:</a:t>
            </a:r>
          </a:p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Initializes with English language and </a:t>
            </a:r>
            <a:r>
              <a:rPr lang="en-US" b="1" dirty="0">
                <a:solidFill>
                  <a:schemeClr val="bg1"/>
                </a:solidFill>
              </a:rPr>
              <a:t>Default</a:t>
            </a:r>
            <a:r>
              <a:rPr lang="en-US" dirty="0">
                <a:solidFill>
                  <a:schemeClr val="bg1"/>
                </a:solidFill>
              </a:rPr>
              <a:t> mode.</a:t>
            </a:r>
          </a:p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Configures settings for better recognition (e.g., interworld spaces, allowed characters, 300 DPI, and OCR engine mode).</a:t>
            </a:r>
          </a:p>
          <a:p>
            <a:pPr algn="just"/>
            <a:endParaRPr lang="en-US" dirty="0">
              <a:solidFill>
                <a:schemeClr val="bg1"/>
              </a:solidFill>
            </a:endParaRPr>
          </a:p>
          <a:p>
            <a:pPr algn="just"/>
            <a:r>
              <a:rPr lang="en-US" sz="2000" b="1" dirty="0">
                <a:solidFill>
                  <a:schemeClr val="bg1"/>
                </a:solidFill>
              </a:rPr>
              <a:t>Image Loading</a:t>
            </a:r>
            <a:r>
              <a:rPr lang="en-US" sz="2000" dirty="0">
                <a:solidFill>
                  <a:schemeClr val="bg1"/>
                </a:solidFill>
              </a:rPr>
              <a:t>:</a:t>
            </a:r>
          </a:p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Loads the image </a:t>
            </a:r>
            <a:r>
              <a:rPr lang="en-US" b="1" dirty="0" err="1">
                <a:solidFill>
                  <a:schemeClr val="bg1"/>
                </a:solidFill>
              </a:rPr>
              <a:t>usingPix.LoadFromFile</a:t>
            </a:r>
            <a:r>
              <a:rPr lang="en-US" b="1" dirty="0">
                <a:solidFill>
                  <a:schemeClr val="bg1"/>
                </a:solidFill>
              </a:rPr>
              <a:t>(</a:t>
            </a:r>
            <a:r>
              <a:rPr lang="en-US" b="1" dirty="0" err="1">
                <a:solidFill>
                  <a:schemeClr val="bg1"/>
                </a:solidFill>
              </a:rPr>
              <a:t>imagePath</a:t>
            </a:r>
            <a:r>
              <a:rPr lang="en-US" b="1" dirty="0">
                <a:solidFill>
                  <a:schemeClr val="bg1"/>
                </a:solidFill>
              </a:rPr>
              <a:t>). </a:t>
            </a:r>
            <a:r>
              <a:rPr lang="en-US" dirty="0">
                <a:solidFill>
                  <a:schemeClr val="bg1"/>
                </a:solidFill>
              </a:rPr>
              <a:t>Throws error if failed.</a:t>
            </a:r>
          </a:p>
          <a:p>
            <a:pPr marL="285750" indent="-285750" algn="just">
              <a:buFont typeface="Wingdings" panose="05000000000000000000" pitchFamily="2" charset="2"/>
              <a:buChar char="§"/>
            </a:pPr>
            <a:endParaRPr lang="en-US" dirty="0">
              <a:solidFill>
                <a:schemeClr val="bg1"/>
              </a:solidFill>
            </a:endParaRPr>
          </a:p>
          <a:p>
            <a:pPr algn="just">
              <a:buNone/>
            </a:pPr>
            <a:r>
              <a:rPr lang="en-US" sz="2000" b="1" dirty="0">
                <a:solidFill>
                  <a:schemeClr val="bg1"/>
                </a:solidFill>
              </a:rPr>
              <a:t>Text Extraction</a:t>
            </a:r>
            <a:r>
              <a:rPr lang="en-US" sz="2000" dirty="0">
                <a:solidFill>
                  <a:schemeClr val="bg1"/>
                </a:solidFill>
              </a:rPr>
              <a:t>:</a:t>
            </a:r>
          </a:p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Processes the image, extracts text, and calculates confidence.</a:t>
            </a:r>
          </a:p>
          <a:p>
            <a:pPr marL="285750" indent="-285750" algn="just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If text is found, it’s post-processed, and a sample is displayed. If not, shows a warning.</a:t>
            </a:r>
          </a:p>
          <a:p>
            <a:pPr algn="just"/>
            <a:endParaRPr lang="en-US" dirty="0">
              <a:solidFill>
                <a:schemeClr val="bg1"/>
              </a:solidFill>
            </a:endParaRPr>
          </a:p>
          <a:p>
            <a:pPr algn="just"/>
            <a:endParaRPr lang="en-US" sz="2000" dirty="0">
              <a:solidFill>
                <a:schemeClr val="bg1"/>
              </a:solidFill>
            </a:endParaRPr>
          </a:p>
          <a:p>
            <a:pPr algn="just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6709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0ECC2-A7A9-2510-295E-6C19ACA92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screen with a blue background&#10;&#10;AI-generated content may be incorrect.">
            <a:extLst>
              <a:ext uri="{FF2B5EF4-FFF2-40B4-BE49-F238E27FC236}">
                <a16:creationId xmlns:a16="http://schemas.microsoft.com/office/drawing/2014/main" id="{8CB6C4DB-4785-C3DB-16BD-7416CCC3A1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52A9FA7-A087-F644-FBD3-D33F29A8E6FB}"/>
              </a:ext>
            </a:extLst>
          </p:cNvPr>
          <p:cNvSpPr txBox="1"/>
          <p:nvPr/>
        </p:nvSpPr>
        <p:spPr>
          <a:xfrm>
            <a:off x="323386" y="579863"/>
            <a:ext cx="74601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Batch Processing Workflow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585CB4-86A5-4510-51F4-9F8756646B47}"/>
              </a:ext>
            </a:extLst>
          </p:cNvPr>
          <p:cNvSpPr txBox="1"/>
          <p:nvPr/>
        </p:nvSpPr>
        <p:spPr>
          <a:xfrm>
            <a:off x="557561" y="1427356"/>
            <a:ext cx="5765180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b="1" dirty="0">
                <a:solidFill>
                  <a:schemeClr val="bg1"/>
                </a:solidFill>
              </a:rPr>
              <a:t>Process Fl</a:t>
            </a:r>
            <a:r>
              <a:rPr lang="en-US" sz="2000" b="1" dirty="0">
                <a:solidFill>
                  <a:schemeClr val="bg1"/>
                </a:solidFill>
              </a:rPr>
              <a:t>ow:</a:t>
            </a:r>
            <a:endParaRPr lang="en-US" sz="2000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bg1"/>
                </a:solidFill>
              </a:rPr>
              <a:t>Load images from input folder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bg1"/>
                </a:solidFill>
              </a:rPr>
              <a:t>Apply multiple transformations to each image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bg1"/>
                </a:solidFill>
              </a:rPr>
              <a:t>Extract text from each processed version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bg1"/>
                </a:solidFill>
              </a:rPr>
              <a:t>Save extracted text to output folder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bg1"/>
                </a:solidFill>
              </a:rPr>
              <a:t>Fall back to original image if processing fails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sz="2000" b="1" dirty="0">
                <a:solidFill>
                  <a:schemeClr val="bg1"/>
                </a:solidFill>
              </a:rPr>
              <a:t>Error Handling:</a:t>
            </a:r>
          </a:p>
          <a:p>
            <a:endParaRPr lang="en-US" sz="2000" b="1" dirty="0">
              <a:solidFill>
                <a:schemeClr val="bg1"/>
              </a:solidFill>
            </a:endParaRPr>
          </a:p>
          <a:p>
            <a:endParaRPr lang="en-US" dirty="0"/>
          </a:p>
        </p:txBody>
      </p:sp>
      <p:pic>
        <p:nvPicPr>
          <p:cNvPr id="6" name="Picture 5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F4D8F264-FECE-32B5-1BD4-43A4586D99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711" y="3999084"/>
            <a:ext cx="6536977" cy="1342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9467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omputer screen with a blue background&#10;&#10;AI-generated content may be incorrect.">
            <a:extLst>
              <a:ext uri="{FF2B5EF4-FFF2-40B4-BE49-F238E27FC236}">
                <a16:creationId xmlns:a16="http://schemas.microsoft.com/office/drawing/2014/main" id="{CCAB805E-8BC0-187C-C05B-C1ABCE3BC3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5836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CF86807-66AF-9FB0-9E5C-420F9854BE19}"/>
              </a:ext>
            </a:extLst>
          </p:cNvPr>
          <p:cNvSpPr txBox="1"/>
          <p:nvPr/>
        </p:nvSpPr>
        <p:spPr>
          <a:xfrm>
            <a:off x="591015" y="557560"/>
            <a:ext cx="59882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Output of the Project:</a:t>
            </a:r>
          </a:p>
        </p:txBody>
      </p:sp>
      <p:pic>
        <p:nvPicPr>
          <p:cNvPr id="6" name="Picture 5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30AE157F-A35F-E44F-0D11-AAF92BF3F6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0697" y="1761451"/>
            <a:ext cx="8290605" cy="4216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4054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3DCAC-A9F4-C44C-C1FB-C74763EFC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screen with a blue background&#10;&#10;AI-generated content may be incorrect.">
            <a:extLst>
              <a:ext uri="{FF2B5EF4-FFF2-40B4-BE49-F238E27FC236}">
                <a16:creationId xmlns:a16="http://schemas.microsoft.com/office/drawing/2014/main" id="{C068A0AB-7C4F-6E7D-7AB6-5AA2C14E69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E735607-73AA-8F34-A1FD-C542DBC0245D}"/>
              </a:ext>
            </a:extLst>
          </p:cNvPr>
          <p:cNvSpPr txBox="1"/>
          <p:nvPr/>
        </p:nvSpPr>
        <p:spPr>
          <a:xfrm>
            <a:off x="301083" y="435117"/>
            <a:ext cx="71256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Unit Testing for Image Processing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9D67E9-3F90-38CA-81A3-D884320F49E9}"/>
              </a:ext>
            </a:extLst>
          </p:cNvPr>
          <p:cNvSpPr txBox="1"/>
          <p:nvPr/>
        </p:nvSpPr>
        <p:spPr>
          <a:xfrm>
            <a:off x="364273" y="1683834"/>
            <a:ext cx="5731727" cy="38164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b="1" dirty="0" err="1">
                <a:solidFill>
                  <a:schemeClr val="bg1"/>
                </a:solidFill>
              </a:rPr>
              <a:t>AdvancedImageProcessorTests</a:t>
            </a:r>
            <a:r>
              <a:rPr lang="en-US" sz="2000" dirty="0">
                <a:solidFill>
                  <a:schemeClr val="bg1"/>
                </a:solidFill>
              </a:rPr>
              <a:t>: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chemeClr val="bg1"/>
                </a:solidFill>
              </a:rPr>
              <a:t>Save Processed Images</a:t>
            </a:r>
            <a:r>
              <a:rPr lang="en-US" dirty="0">
                <a:solidFill>
                  <a:schemeClr val="bg1"/>
                </a:solidFill>
              </a:rPr>
              <a:t>: Verifies images are saved correctly</a:t>
            </a:r>
            <a:r>
              <a:rPr lang="en-US" sz="2000" dirty="0">
                <a:solidFill>
                  <a:schemeClr val="bg1"/>
                </a:solidFill>
              </a:rPr>
              <a:t>.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chemeClr val="bg1"/>
                </a:solidFill>
              </a:rPr>
              <a:t>Invalid Path Handling</a:t>
            </a:r>
            <a:r>
              <a:rPr lang="en-US" dirty="0">
                <a:solidFill>
                  <a:schemeClr val="bg1"/>
                </a:solidFill>
              </a:rPr>
              <a:t>: Ensures invalid image paths throw an error.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endParaRPr lang="en-US" dirty="0">
              <a:solidFill>
                <a:schemeClr val="bg1"/>
              </a:solidFill>
            </a:endParaRPr>
          </a:p>
          <a:p>
            <a:pPr algn="just"/>
            <a:r>
              <a:rPr lang="en-US" sz="2000" b="1" dirty="0" err="1">
                <a:solidFill>
                  <a:schemeClr val="bg1"/>
                </a:solidFill>
              </a:rPr>
              <a:t>ExperimentalImageProcessorTests</a:t>
            </a:r>
            <a:r>
              <a:rPr lang="en-US" sz="2000" b="1" dirty="0">
                <a:solidFill>
                  <a:schemeClr val="bg1"/>
                </a:solidFill>
              </a:rPr>
              <a:t>: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chemeClr val="bg1"/>
                </a:solidFill>
              </a:rPr>
              <a:t>Apply All Techniques</a:t>
            </a:r>
            <a:r>
              <a:rPr lang="en-US" dirty="0">
                <a:solidFill>
                  <a:schemeClr val="bg1"/>
                </a:solidFill>
              </a:rPr>
              <a:t>: Ensures all processing techniques are applied and saved.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endParaRPr lang="en-US" b="1" dirty="0">
              <a:solidFill>
                <a:schemeClr val="bg1"/>
              </a:solidFill>
            </a:endParaRPr>
          </a:p>
          <a:p>
            <a:pPr algn="just"/>
            <a:r>
              <a:rPr lang="en-US" sz="2000" b="1" dirty="0" err="1">
                <a:solidFill>
                  <a:schemeClr val="bg1"/>
                </a:solidFill>
              </a:rPr>
              <a:t>ImageBatchProcessorTests</a:t>
            </a:r>
            <a:r>
              <a:rPr lang="en-US" sz="2000" b="1" dirty="0">
                <a:solidFill>
                  <a:schemeClr val="bg1"/>
                </a:solidFill>
              </a:rPr>
              <a:t>: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chemeClr val="bg1"/>
                </a:solidFill>
              </a:rPr>
              <a:t>Batch Processing</a:t>
            </a:r>
            <a:r>
              <a:rPr lang="en-US" dirty="0">
                <a:solidFill>
                  <a:schemeClr val="bg1"/>
                </a:solidFill>
              </a:rPr>
              <a:t>: Verifies batch processing of images and text extraction.</a:t>
            </a:r>
            <a:endParaRPr lang="en-US" b="1" dirty="0">
              <a:solidFill>
                <a:schemeClr val="bg1"/>
              </a:solidFill>
            </a:endParaRPr>
          </a:p>
        </p:txBody>
      </p: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429DBE2-48C7-7E6B-B37D-D06F491C41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3795" y="1683834"/>
            <a:ext cx="5880409" cy="3816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9327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33792-DF3B-58F0-7300-800F0EBC0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screen with a blue background&#10;&#10;AI-generated content may be incorrect.">
            <a:extLst>
              <a:ext uri="{FF2B5EF4-FFF2-40B4-BE49-F238E27FC236}">
                <a16:creationId xmlns:a16="http://schemas.microsoft.com/office/drawing/2014/main" id="{0985DE3E-77B6-9546-2717-B28750CECA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F722503-D766-CCB4-BFD4-5AF2984F61DF}"/>
              </a:ext>
            </a:extLst>
          </p:cNvPr>
          <p:cNvSpPr txBox="1"/>
          <p:nvPr/>
        </p:nvSpPr>
        <p:spPr>
          <a:xfrm>
            <a:off x="457200" y="390512"/>
            <a:ext cx="80734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Conclusion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5ACC6E-FF9E-714C-4916-C54E784FBAB4}"/>
              </a:ext>
            </a:extLst>
          </p:cNvPr>
          <p:cNvSpPr txBox="1"/>
          <p:nvPr/>
        </p:nvSpPr>
        <p:spPr>
          <a:xfrm>
            <a:off x="546410" y="1315932"/>
            <a:ext cx="6891454" cy="45550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solidFill>
                  <a:schemeClr val="bg1"/>
                </a:solidFill>
              </a:rPr>
              <a:t>This project successfully demonstrates the </a:t>
            </a:r>
            <a:r>
              <a:rPr lang="en-US" b="1" dirty="0">
                <a:solidFill>
                  <a:schemeClr val="bg1"/>
                </a:solidFill>
              </a:rPr>
              <a:t>importance of advanced image pre-processing</a:t>
            </a:r>
            <a:r>
              <a:rPr lang="en-US" dirty="0">
                <a:solidFill>
                  <a:schemeClr val="bg1"/>
                </a:solidFill>
              </a:rPr>
              <a:t> in improving OCR-based text extraction. By implementing a </a:t>
            </a:r>
            <a:r>
              <a:rPr lang="en-US" b="1" dirty="0">
                <a:solidFill>
                  <a:schemeClr val="bg1"/>
                </a:solidFill>
              </a:rPr>
              <a:t>modular and flexible system</a:t>
            </a:r>
            <a:r>
              <a:rPr lang="en-US" dirty="0">
                <a:solidFill>
                  <a:schemeClr val="bg1"/>
                </a:solidFill>
              </a:rPr>
              <a:t>, it allows seamless integration of additional transformations and alternative OCR engines, ensuring adaptability to diverse image conditions.</a:t>
            </a:r>
          </a:p>
          <a:p>
            <a:pPr algn="just"/>
            <a:endParaRPr lang="en-US" dirty="0">
              <a:solidFill>
                <a:schemeClr val="bg1"/>
              </a:solidFill>
            </a:endParaRPr>
          </a:p>
          <a:p>
            <a:pPr algn="just">
              <a:buNone/>
            </a:pPr>
            <a:r>
              <a:rPr lang="en-US" sz="2000" b="1" dirty="0">
                <a:solidFill>
                  <a:schemeClr val="bg1"/>
                </a:solidFill>
              </a:rPr>
              <a:t>Key Contributions: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chemeClr val="bg1"/>
                </a:solidFill>
              </a:rPr>
              <a:t>Enhanced OCR Accuracy</a:t>
            </a:r>
            <a:r>
              <a:rPr lang="en-US" dirty="0">
                <a:solidFill>
                  <a:schemeClr val="bg1"/>
                </a:solidFill>
              </a:rPr>
              <a:t> – Applying multiple pre-processing techniques to maximize text recognition success rates.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chemeClr val="bg1"/>
                </a:solidFill>
              </a:rPr>
              <a:t>Modular System Architecture</a:t>
            </a:r>
            <a:r>
              <a:rPr lang="en-US" dirty="0">
                <a:solidFill>
                  <a:schemeClr val="bg1"/>
                </a:solidFill>
              </a:rPr>
              <a:t> – Ensuring clear separation between image processing and text extraction for better scalability.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chemeClr val="bg1"/>
                </a:solidFill>
              </a:rPr>
              <a:t>Optimized Post-processing</a:t>
            </a:r>
            <a:r>
              <a:rPr lang="en-US" dirty="0">
                <a:solidFill>
                  <a:schemeClr val="bg1"/>
                </a:solidFill>
              </a:rPr>
              <a:t> – Refining extracted text to improve readability and accuracy.</a:t>
            </a:r>
          </a:p>
          <a:p>
            <a:pPr algn="just"/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0475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ue and white text on a black background&#10;&#10;AI-generated content may be incorrect.">
            <a:extLst>
              <a:ext uri="{FF2B5EF4-FFF2-40B4-BE49-F238E27FC236}">
                <a16:creationId xmlns:a16="http://schemas.microsoft.com/office/drawing/2014/main" id="{3C086FBD-ADDD-3147-FBBA-352D3772CE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8060" y="-79485"/>
            <a:ext cx="12270060" cy="6937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1072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BevelVTI">
  <a:themeElements>
    <a:clrScheme name="Custom 148">
      <a:dk1>
        <a:srgbClr val="262626"/>
      </a:dk1>
      <a:lt1>
        <a:sysClr val="window" lastClr="FFFFFF"/>
      </a:lt1>
      <a:dk2>
        <a:srgbClr val="2F333D"/>
      </a:dk2>
      <a:lt2>
        <a:srgbClr val="ECF0F0"/>
      </a:lt2>
      <a:accent1>
        <a:srgbClr val="00BAC8"/>
      </a:accent1>
      <a:accent2>
        <a:srgbClr val="794DFF"/>
      </a:accent2>
      <a:accent3>
        <a:srgbClr val="00D17D"/>
      </a:accent3>
      <a:accent4>
        <a:srgbClr val="E69500"/>
      </a:accent4>
      <a:accent5>
        <a:srgbClr val="FE5D21"/>
      </a:accent5>
      <a:accent6>
        <a:srgbClr val="404040"/>
      </a:accent6>
      <a:hlink>
        <a:srgbClr val="3E8FF1"/>
      </a:hlink>
      <a:folHlink>
        <a:srgbClr val="939393"/>
      </a:folHlink>
    </a:clrScheme>
    <a:fontScheme name="Custom 53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velVTI" id="{C9E5F598-602B-46C1-AA16-073CEB959654}" vid="{2AE1FD39-65AD-4D34-93E9-C7019D0ECBA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1037</TotalTime>
  <Words>540</Words>
  <Application>Microsoft Office PowerPoint</Application>
  <PresentationFormat>Widescreen</PresentationFormat>
  <Paragraphs>70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Bierstadt</vt:lpstr>
      <vt:lpstr>Wingdings</vt:lpstr>
      <vt:lpstr>BevelVTI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Romesa, --</dc:creator>
  <cp:lastModifiedBy>Fiza Akram</cp:lastModifiedBy>
  <cp:revision>8</cp:revision>
  <dcterms:created xsi:type="dcterms:W3CDTF">2025-03-03T19:14:07Z</dcterms:created>
  <dcterms:modified xsi:type="dcterms:W3CDTF">2025-03-23T11:52:11Z</dcterms:modified>
</cp:coreProperties>
</file>